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Test Accuracy Comparison (%)</a:t>
            </a:r>
          </a:p>
        </c:rich>
      </c:tx>
      <c:layout/>
      <c:overlay val="0"/>
    </c:title>
    <c:autoTitleDeleted val="0"/>
    <c:plotArea>
      <c:layout/>
      <c:barChart>
        <c:barDir val="col"/>
        <c:grouping val="clustered"/>
        <c:varyColors val="0"/>
        <c:ser>
          <c:idx val="0"/>
          <c:order val="0"/>
          <c:tx>
            <c:strRef>
              <c:f>Sheet1!$B$1</c:f>
              <c:strCache>
                <c:ptCount val="1"/>
                <c:pt idx="0">
                  <c:v>Test Accuracy (%)</c:v>
                </c:pt>
              </c:strCache>
            </c:strRef>
          </c:tx>
          <c:spPr>
            <a:solidFill>
              <a:srgbClr val="27A85F"/>
            </a:solidFill>
            <a:effectLst/>
          </c:spPr>
          <c:invertIfNegative val="0"/>
          <c:dLbls>
            <c:numFmt formatCode="#,##0" sourceLinked="0"/>
            <c:txPr>
              <a:bodyPr/>
              <a:lstStyle/>
              <a:p>
                <a:pPr>
                  <a:defRPr b="0" i="0" strike="noStrike" sz="1200" u="none">
                    <a:solidFill>
                      <a:srgbClr val="1C2E3A"/>
                    </a:solidFill>
                    <a:latin typeface="Arial"/>
                  </a:defRPr>
                </a:pPr>
              </a:p>
            </c:txPr>
            <c:showLegendKey val="0"/>
            <c:showVal val="1"/>
            <c:showCatName val="0"/>
            <c:showSerName val="0"/>
            <c:showPercent val="0"/>
            <c:showBubbleSize val="0"/>
            <c:showLeaderLines val="0"/>
          </c:dLbls>
          <c:dPt>
            <c:idx val="0"/>
            <c:invertIfNegative val="0"/>
            <c:bubble3D val="0"/>
            <c:spPr>
              <a:solidFill>
                <a:srgbClr val="27A85F"/>
              </a:solidFill>
              <a:effectLst/>
            </c:spPr>
          </c:dPt>
          <c:dPt>
            <c:idx val="1"/>
            <c:invertIfNegative val="0"/>
            <c:bubble3D val="0"/>
            <c:spPr>
              <a:solidFill>
                <a:srgbClr val="1A6B72"/>
              </a:solidFill>
              <a:effectLst/>
            </c:spPr>
          </c:dPt>
          <c:dPt>
            <c:idx val="2"/>
            <c:invertIfNegative val="0"/>
            <c:bubble3D val="0"/>
            <c:spPr>
              <a:solidFill>
                <a:srgbClr val="B0BEC5"/>
              </a:solidFill>
              <a:effectLst/>
            </c:spPr>
          </c:dPt>
          <c:dPt>
            <c:idx val="3"/>
            <c:invertIfNegative val="0"/>
            <c:bubble3D val="0"/>
            <c:spPr>
              <a:solidFill>
                <a:srgbClr val="B0BEC5"/>
              </a:solidFill>
              <a:effectLst/>
            </c:spPr>
          </c:dPt>
          <c:dPt>
            <c:idx val="4"/>
            <c:invertIfNegative val="0"/>
            <c:bubble3D val="0"/>
            <c:spPr>
              <a:solidFill>
                <a:srgbClr val="B0BEC5"/>
              </a:solidFill>
              <a:effectLst/>
            </c:spPr>
          </c:dPt>
          <c:cat>
            <c:multiLvlStrRef>
              <c:f>Sheet1!$A$2:$A$6</c:f>
              <c:multiLvlStrCache>
                <c:ptCount val="5"/>
                <c:lvl>
                  <c:pt idx="0">
                    <c:v>CLIP</c:v>
                  </c:pt>
                  <c:pt idx="1">
                    <c:v>BLIP</c:v>
                  </c:pt>
                  <c:pt idx="2">
                    <c:v>Xception</c:v>
                  </c:pt>
                  <c:pt idx="3">
                    <c:v>DenseNet-121</c:v>
                  </c:pt>
                  <c:pt idx="4">
                    <c:v>ResNet-50</c:v>
                  </c:pt>
                </c:lvl>
              </c:multiLvlStrCache>
            </c:multiLvlStrRef>
          </c:cat>
          <c:val>
            <c:numRef>
              <c:f>Sheet1!$B$2:$B$6</c:f>
              <c:numCache>
                <c:formatCode>General</c:formatCode>
                <c:ptCount val="5"/>
                <c:pt idx="0">
                  <c:v>97.94</c:v>
                </c:pt>
                <c:pt idx="1">
                  <c:v>96.49</c:v>
                </c:pt>
                <c:pt idx="2">
                  <c:v>97.43</c:v>
                </c:pt>
                <c:pt idx="3">
                  <c:v>96.92</c:v>
                </c:pt>
                <c:pt idx="4">
                  <c:v>95.81</c:v>
                </c:pt>
              </c:numCache>
            </c:numRef>
          </c:val>
        </c:ser>
        <c:dLbls>
          <c:numFmt formatCode="#,##0" sourceLinked="0"/>
          <c:txPr>
            <a:bodyPr/>
            <a:lstStyle/>
            <a:p>
              <a:pPr>
                <a:defRPr b="0" i="0" strike="noStrike" sz="1200" u="none">
                  <a:solidFill>
                    <a:srgbClr val="1C2E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2E3A"/>
                </a:solidFill>
                <a:latin typeface="Arial"/>
              </a:defRPr>
            </a:pPr>
            <a:endParaRPr lang="en-US"/>
          </a:p>
        </c:txPr>
        <c:crossAx val="2094734552"/>
        <c:crosses val="autoZero"/>
        <c:auto val="1"/>
        <c:lblAlgn val="ctr"/>
        <c:noMultiLvlLbl val="1"/>
      </c:catAx>
      <c:valAx>
        <c:axId val="2094734552"/>
        <c:scaling>
          <c:orientation val="minMax"/>
          <c:max val="99"/>
          <c:min val="94"/>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C2E3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presentation compares two state-of-the-art Vision-Language Models — CLIP and BLIP — fine-tuned for four-class brain tumor MRI classification. We'll walk through dataset construction, preprocessing, model architectures, training strategy, results, and implications for clinical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evolution from CNNs to VLMs. Key point: CNNs extract spatial features well but require massive domain-specific datasets. VLMs bring semantic alignment via image-text pairs. The key limitation — zero-shot failure in narrow medical domains — is why we pursue supervised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why zero-shot is insufficient: it was not designed for narrow medical domains. The domain shift is real — the visual semantics of 'a photo of a glioma' diverge significantly from what the model saw in pretraining. Highlight the clinical risk of false negatives. This motivates our fine-tuning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aggregates three public repositories: Kaggle Brain Tumor MRI Dataset (6,222 images), Br35H (801 no-tumor samples), and Figshare (augmentation). Patient-level de-duplication was applied where metadata allowed. A sensitivity analysis over 5 random seeds confirms variance under ±0.5%, validating split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serves two goals: domain adaptation and adversarial robustness. FGSM and PGD augmentations test model stability under perturbation. The text encoder is frozen throughout — only visual layers see domain-specific updates. This design preserves pretrained semantic alignment while adapting visual representations to MRI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dual-encoder design is the core of both models. CLIP uses feature-wise concatenation and cosine similarity for fusion. BLIP employs cross-attention to modulate visual features with text embeddings. Both share the same classification head design and training regime for a fair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uses a symmetric contrastive learning objective. During fine-tuning, we freeze the text encoder because class-label prompts are fixed — the semantic meaning of 'glioma' doesn't change. Only the vision encoder adapts. This asymmetric fine-tuning is computationally efficient and prevents catastrophic forgetting of pretrained text representations.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critical difference from CLIP: BLIP's cross-attention mechanism allows text embeddings to dynamically modulate which visual features are attended to. This is particularly powerful for meningioma vs glioma distinction where localised boundary and texture features carry diagnostic weight. However, this added complexity can introduce noise in purely visual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selective unfreezing strategy is central to this work. Research shows that upper transformer layers specialise in task-specific features while lower layers capture general visual primitives. By unfreezing only layers N-1 and N-2 alongside the classification head, we maximise adaptation efficiency. Total trainable parameters: ~4.7M out of ~86M (CLIP ViT-B/32).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classification head is deliberately simple but carefully designed. BatchNorm is critical here because MRI images from different scanners have varying contrast profiles — normalising activations per batch reduces covariate shift. The focal loss term is essential: without it, the 'no tumor' class (2,000 samples) would dominate gradient updates, suppressing learning for meningioma (1,645) and glioma (1,621).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important callout: all experiments ran on CPU-only hardware. This is a notable limitation — GPU acceleration would reduce epoch time from 4–6 hours to minutes. Nevertheless, results are reproducible and stable across 5 random seeds. Cosine Annealing with warm restarts is particularly effective when training on limited data, as the periodic LR resets allow escape from sharp minima that generalise poorly.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CLIP's 97.94% accuracy is impressive, but the per-class analysis reveals a critical weakness: glioma recall is 0.92. This means 8% of gliomas are being missed — in a clinical setting, this translates to false negatives for a malignant tumour type. The confusion matrix confirms all 22 misclassifications occur at the glioma-meningioma boundary, which share similar ring-enhancing MRI appearances.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BLIP's slightly lower overall accuracy (96.49% vs 97.94%) masks its clinical advantage: more balanced class-level performance. Glioma recall drops to 0.89 — an area for improvement — but meningioma recall of 0.96 outperforms CLIP's 0.99 by a smaller margin. The cross-attention mechanism's ability to attend to localised boundary features explains BLIP's more consistent performance across visually heterogeneous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trade-off: CLIP achieves higher raw accuracy but BLIP's lower false negative rate and more balanced precision-recall profile make it clinically preferable. In oncological diagnosis, missing a glioma (false negative) is far more costly than an unnecessary biopsy (false positive). The CNN baselines — Xception especially — still edge out both VLMs in raw accuracy, but lack the interpretability and multimodal extensibility of VLMs.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implementation is a direct translation of the theoretical framework. Key points to highlight: (1) The selective unfreezing uses negative indexing on resblocks to target the last two transformer layers. (2) The scheduler.step() call is placed inside the batch loop — a subtlety of CosineAnnealingWarmRestarts vs standard schedulers. (3) BLIP uses the same classifier head architecture appended to BLIPModel's vision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CNN-VLM performance gap has a clear structural explanation: CNNs like Xception use depthwise separable convolutions that explicitly model spatial channel relationships — exactly the kind of localised feature important for tumour boundary detection. VLMs' strength is cross-modal reasoning, which adds interpretability but can dilute purely spatial discrimination. The hybrid approach is the most promising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remarks: This study demonstrates that supervised fine-tuning of VLMs represents a viable path for medical image AI — not a replacement for CNNs, but a complement to them. The multimodal nature of CLIP and BLIP enables future integration of radiology reports with MRI scans, moving toward truly multimodal diagnostic AI. Questions to anticipate: Why not use a larger CLIP model? (Hardware constraints.) Why not validate on external datasets? (Future work — TCGA/ADNI.) How does this compare to foundation models like MedCLIP? (Great research direction — domain-pretrained VLMs are an active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4B6"/>
          </a:solidFill>
          <a:ln/>
        </p:spPr>
      </p:sp>
      <p:sp>
        <p:nvSpPr>
          <p:cNvPr id="3" name="Shape 1"/>
          <p:cNvSpPr/>
          <p:nvPr/>
        </p:nvSpPr>
        <p:spPr>
          <a:xfrm>
            <a:off x="0" y="73152"/>
            <a:ext cx="109728" cy="5070348"/>
          </a:xfrm>
          <a:prstGeom prst="rect">
            <a:avLst/>
          </a:prstGeom>
          <a:solidFill>
            <a:srgbClr val="1A6B72"/>
          </a:solidFill>
          <a:ln/>
        </p:spPr>
      </p:sp>
      <p:sp>
        <p:nvSpPr>
          <p:cNvPr id="4" name="Shape 2"/>
          <p:cNvSpPr/>
          <p:nvPr/>
        </p:nvSpPr>
        <p:spPr>
          <a:xfrm>
            <a:off x="320040" y="256032"/>
            <a:ext cx="3108960" cy="292608"/>
          </a:xfrm>
          <a:prstGeom prst="rect">
            <a:avLst/>
          </a:prstGeom>
          <a:solidFill>
            <a:srgbClr val="1A6B72"/>
          </a:solidFill>
          <a:ln/>
        </p:spPr>
      </p:sp>
      <p:sp>
        <p:nvSpPr>
          <p:cNvPr id="5" name="Text 3"/>
          <p:cNvSpPr/>
          <p:nvPr/>
        </p:nvSpPr>
        <p:spPr>
          <a:xfrm>
            <a:off x="320040" y="256032"/>
            <a:ext cx="3108960" cy="292608"/>
          </a:xfrm>
          <a:prstGeom prst="rect">
            <a:avLst/>
          </a:prstGeom>
          <a:noFill/>
          <a:ln/>
        </p:spPr>
        <p:txBody>
          <a:bodyPr wrap="square" lIns="0" tIns="0" rIns="0" bIns="0" rtlCol="0" anchor="ctr"/>
          <a:lstStyle/>
          <a:p>
            <a:pPr algn="ctr" indent="0" marL="0">
              <a:buNone/>
            </a:pPr>
            <a:r>
              <a:rPr lang="en-US" sz="750" b="1" dirty="0">
                <a:solidFill>
                  <a:srgbClr val="FFFFFF"/>
                </a:solidFill>
              </a:rPr>
              <a:t>M S RAMAIAH INSTITUTE OF TECHNOLOGY · BENGALURU</a:t>
            </a:r>
            <a:endParaRPr lang="en-US" sz="750" dirty="0"/>
          </a:p>
        </p:txBody>
      </p:sp>
      <p:sp>
        <p:nvSpPr>
          <p:cNvPr id="6" name="Text 4"/>
          <p:cNvSpPr/>
          <p:nvPr/>
        </p:nvSpPr>
        <p:spPr>
          <a:xfrm>
            <a:off x="320040" y="685800"/>
            <a:ext cx="5303520" cy="2560320"/>
          </a:xfrm>
          <a:prstGeom prst="rect">
            <a:avLst/>
          </a:prstGeom>
          <a:noFill/>
          <a:ln/>
        </p:spPr>
        <p:txBody>
          <a:bodyPr wrap="square" rtlCol="0" anchor="ctr"/>
          <a:lstStyle/>
          <a:p>
            <a:pPr indent="0" marL="0">
              <a:lnSpc>
                <a:spcPct val="115000"/>
              </a:lnSpc>
              <a:buNone/>
            </a:pPr>
            <a:r>
              <a:rPr lang="en-US" sz="3400" b="1" dirty="0">
                <a:solidFill>
                  <a:srgbClr val="FFFFFF"/>
                </a:solidFill>
                <a:latin typeface="Calibri" pitchFamily="34" charset="0"/>
                <a:ea typeface="Calibri" pitchFamily="34" charset="-122"/>
                <a:cs typeface="Calibri" pitchFamily="34" charset="-120"/>
              </a:rPr>
              <a:t>Multimodal Brain Tumor</a:t>
            </a:r>
            <a:endParaRPr lang="en-US" sz="3400" dirty="0"/>
          </a:p>
          <a:p>
            <a:pPr indent="0" marL="0">
              <a:lnSpc>
                <a:spcPct val="115000"/>
              </a:lnSpc>
              <a:buNone/>
            </a:pPr>
            <a:r>
              <a:rPr lang="en-US" sz="3400" b="1" dirty="0">
                <a:solidFill>
                  <a:srgbClr val="FFFFFF"/>
                </a:solidFill>
                <a:latin typeface="Calibri" pitchFamily="34" charset="0"/>
                <a:ea typeface="Calibri" pitchFamily="34" charset="-122"/>
                <a:cs typeface="Calibri" pitchFamily="34" charset="-120"/>
              </a:rPr>
              <a:t>Classification Using</a:t>
            </a:r>
            <a:endParaRPr lang="en-US" sz="3400" dirty="0"/>
          </a:p>
          <a:p>
            <a:pPr indent="0" marL="0">
              <a:lnSpc>
                <a:spcPct val="115000"/>
              </a:lnSpc>
              <a:buNone/>
            </a:pPr>
            <a:r>
              <a:rPr lang="en-US" sz="3400" b="1" dirty="0">
                <a:solidFill>
                  <a:srgbClr val="FFFFFF"/>
                </a:solidFill>
                <a:latin typeface="Calibri" pitchFamily="34" charset="0"/>
                <a:ea typeface="Calibri" pitchFamily="34" charset="-122"/>
                <a:cs typeface="Calibri" pitchFamily="34" charset="-120"/>
              </a:rPr>
              <a:t>BLIP and CLIP</a:t>
            </a:r>
            <a:endParaRPr lang="en-US" sz="3400" dirty="0"/>
          </a:p>
        </p:txBody>
      </p:sp>
      <p:sp>
        <p:nvSpPr>
          <p:cNvPr id="7" name="Text 5"/>
          <p:cNvSpPr/>
          <p:nvPr/>
        </p:nvSpPr>
        <p:spPr>
          <a:xfrm>
            <a:off x="320040" y="3246120"/>
            <a:ext cx="5303520" cy="411480"/>
          </a:xfrm>
          <a:prstGeom prst="rect">
            <a:avLst/>
          </a:prstGeom>
          <a:noFill/>
          <a:ln/>
        </p:spPr>
        <p:txBody>
          <a:bodyPr wrap="square" rtlCol="0" anchor="ctr"/>
          <a:lstStyle/>
          <a:p>
            <a:pPr indent="0" marL="0">
              <a:buNone/>
            </a:pPr>
            <a:r>
              <a:rPr lang="en-US" sz="1500" i="1" dirty="0">
                <a:solidFill>
                  <a:srgbClr val="2EC4B6"/>
                </a:solidFill>
                <a:latin typeface="Calibri" pitchFamily="34" charset="0"/>
                <a:ea typeface="Calibri" pitchFamily="34" charset="-122"/>
                <a:cs typeface="Calibri" pitchFamily="34" charset="-120"/>
              </a:rPr>
              <a:t>A Comparative Study on Accuracy and Performance</a:t>
            </a:r>
            <a:endParaRPr lang="en-US" sz="1500" dirty="0"/>
          </a:p>
        </p:txBody>
      </p:sp>
      <p:sp>
        <p:nvSpPr>
          <p:cNvPr id="8" name="Text 6"/>
          <p:cNvSpPr/>
          <p:nvPr/>
        </p:nvSpPr>
        <p:spPr>
          <a:xfrm>
            <a:off x="320040" y="3749040"/>
            <a:ext cx="5303520" cy="320040"/>
          </a:xfrm>
          <a:prstGeom prst="rect">
            <a:avLst/>
          </a:prstGeom>
          <a:noFill/>
          <a:ln/>
        </p:spPr>
        <p:txBody>
          <a:bodyPr wrap="square" rtlCol="0" anchor="ctr"/>
          <a:lstStyle/>
          <a:p>
            <a:pPr indent="0" marL="0">
              <a:buNone/>
            </a:pPr>
            <a:r>
              <a:rPr lang="en-US" sz="1300" dirty="0">
                <a:solidFill>
                  <a:srgbClr val="7FA8B8"/>
                </a:solidFill>
                <a:latin typeface="Calibri" pitchFamily="34" charset="0"/>
                <a:ea typeface="Calibri" pitchFamily="34" charset="-122"/>
                <a:cs typeface="Calibri" pitchFamily="34" charset="-120"/>
              </a:rPr>
              <a:t>Swetha M  ·  T N R Kumar</a:t>
            </a:r>
            <a:endParaRPr lang="en-US" sz="1300" dirty="0"/>
          </a:p>
        </p:txBody>
      </p:sp>
      <p:sp>
        <p:nvSpPr>
          <p:cNvPr id="9" name="Text 7"/>
          <p:cNvSpPr/>
          <p:nvPr/>
        </p:nvSpPr>
        <p:spPr>
          <a:xfrm>
            <a:off x="320040" y="4114800"/>
            <a:ext cx="5303520" cy="274320"/>
          </a:xfrm>
          <a:prstGeom prst="rect">
            <a:avLst/>
          </a:prstGeom>
          <a:noFill/>
          <a:ln/>
        </p:spPr>
        <p:txBody>
          <a:bodyPr wrap="square" rtlCol="0" anchor="ctr"/>
          <a:lstStyle/>
          <a:p>
            <a:pPr indent="0" marL="0">
              <a:buNone/>
            </a:pPr>
            <a:r>
              <a:rPr lang="en-US" sz="1100" dirty="0">
                <a:solidFill>
                  <a:srgbClr val="7FA8B8"/>
                </a:solidFill>
                <a:latin typeface="Calibri" pitchFamily="34" charset="0"/>
                <a:ea typeface="Calibri" pitchFamily="34" charset="-122"/>
                <a:cs typeface="Calibri" pitchFamily="34" charset="-120"/>
              </a:rPr>
              <a:t>Department of Computer Science &amp; Engineering</a:t>
            </a:r>
            <a:endParaRPr lang="en-US" sz="1100" dirty="0"/>
          </a:p>
        </p:txBody>
      </p:sp>
      <p:sp>
        <p:nvSpPr>
          <p:cNvPr id="10" name="Shape 8"/>
          <p:cNvSpPr/>
          <p:nvPr/>
        </p:nvSpPr>
        <p:spPr>
          <a:xfrm>
            <a:off x="5943600" y="73152"/>
            <a:ext cx="3200400" cy="5070348"/>
          </a:xfrm>
          <a:prstGeom prst="rect">
            <a:avLst/>
          </a:prstGeom>
          <a:solidFill>
            <a:srgbClr val="1A6B72">
              <a:alpha val="15000"/>
            </a:srgbClr>
          </a:solidFill>
          <a:ln/>
        </p:spPr>
      </p:sp>
      <p:sp>
        <p:nvSpPr>
          <p:cNvPr id="11" name="Text 9"/>
          <p:cNvSpPr/>
          <p:nvPr/>
        </p:nvSpPr>
        <p:spPr>
          <a:xfrm>
            <a:off x="6035040" y="548640"/>
            <a:ext cx="2926080" cy="594360"/>
          </a:xfrm>
          <a:prstGeom prst="rect">
            <a:avLst/>
          </a:prstGeom>
          <a:noFill/>
          <a:ln/>
        </p:spPr>
        <p:txBody>
          <a:bodyPr wrap="square" rtlCol="0" anchor="ctr"/>
          <a:lstStyle/>
          <a:p>
            <a:pPr algn="ctr" indent="0" marL="0">
              <a:buNone/>
            </a:pPr>
            <a:r>
              <a:rPr lang="en-US" sz="3000" b="1" dirty="0">
                <a:solidFill>
                  <a:srgbClr val="2EC4B6"/>
                </a:solidFill>
                <a:latin typeface="Calibri" pitchFamily="34" charset="0"/>
                <a:ea typeface="Calibri" pitchFamily="34" charset="-122"/>
                <a:cs typeface="Calibri" pitchFamily="34" charset="-120"/>
              </a:rPr>
              <a:t>97.94%</a:t>
            </a:r>
            <a:endParaRPr lang="en-US" sz="3000" dirty="0"/>
          </a:p>
        </p:txBody>
      </p:sp>
      <p:sp>
        <p:nvSpPr>
          <p:cNvPr id="12" name="Text 10"/>
          <p:cNvSpPr/>
          <p:nvPr/>
        </p:nvSpPr>
        <p:spPr>
          <a:xfrm>
            <a:off x="6035040" y="1115568"/>
            <a:ext cx="2926080" cy="256032"/>
          </a:xfrm>
          <a:prstGeom prst="rect">
            <a:avLst/>
          </a:prstGeom>
          <a:noFill/>
          <a:ln/>
        </p:spPr>
        <p:txBody>
          <a:bodyPr wrap="square" rtlCol="0" anchor="ctr"/>
          <a:lstStyle/>
          <a:p>
            <a:pPr algn="ctr" indent="0" marL="0">
              <a:buNone/>
            </a:pPr>
            <a:r>
              <a:rPr lang="en-US" sz="1000" dirty="0">
                <a:solidFill>
                  <a:srgbClr val="7FA8B8"/>
                </a:solidFill>
              </a:rPr>
              <a:t>CLIP Test Accuracy</a:t>
            </a:r>
            <a:endParaRPr lang="en-US" sz="1000" dirty="0"/>
          </a:p>
        </p:txBody>
      </p:sp>
      <p:sp>
        <p:nvSpPr>
          <p:cNvPr id="13" name="Text 11"/>
          <p:cNvSpPr/>
          <p:nvPr/>
        </p:nvSpPr>
        <p:spPr>
          <a:xfrm>
            <a:off x="6035040" y="1664208"/>
            <a:ext cx="2926080" cy="594360"/>
          </a:xfrm>
          <a:prstGeom prst="rect">
            <a:avLst/>
          </a:prstGeom>
          <a:noFill/>
          <a:ln/>
        </p:spPr>
        <p:txBody>
          <a:bodyPr wrap="square" rtlCol="0" anchor="ctr"/>
          <a:lstStyle/>
          <a:p>
            <a:pPr algn="ctr" indent="0" marL="0">
              <a:buNone/>
            </a:pPr>
            <a:r>
              <a:rPr lang="en-US" sz="3000" b="1" dirty="0">
                <a:solidFill>
                  <a:srgbClr val="2EC4B6"/>
                </a:solidFill>
                <a:latin typeface="Calibri" pitchFamily="34" charset="0"/>
                <a:ea typeface="Calibri" pitchFamily="34" charset="-122"/>
                <a:cs typeface="Calibri" pitchFamily="34" charset="-120"/>
              </a:rPr>
              <a:t>96.49%</a:t>
            </a:r>
            <a:endParaRPr lang="en-US" sz="3000" dirty="0"/>
          </a:p>
        </p:txBody>
      </p:sp>
      <p:sp>
        <p:nvSpPr>
          <p:cNvPr id="14" name="Text 12"/>
          <p:cNvSpPr/>
          <p:nvPr/>
        </p:nvSpPr>
        <p:spPr>
          <a:xfrm>
            <a:off x="6035040" y="2231136"/>
            <a:ext cx="2926080" cy="256032"/>
          </a:xfrm>
          <a:prstGeom prst="rect">
            <a:avLst/>
          </a:prstGeom>
          <a:noFill/>
          <a:ln/>
        </p:spPr>
        <p:txBody>
          <a:bodyPr wrap="square" rtlCol="0" anchor="ctr"/>
          <a:lstStyle/>
          <a:p>
            <a:pPr algn="ctr" indent="0" marL="0">
              <a:buNone/>
            </a:pPr>
            <a:r>
              <a:rPr lang="en-US" sz="1000" dirty="0">
                <a:solidFill>
                  <a:srgbClr val="7FA8B8"/>
                </a:solidFill>
              </a:rPr>
              <a:t>BLIP Test Accuracy</a:t>
            </a:r>
            <a:endParaRPr lang="en-US" sz="1000" dirty="0"/>
          </a:p>
        </p:txBody>
      </p:sp>
      <p:sp>
        <p:nvSpPr>
          <p:cNvPr id="15" name="Text 13"/>
          <p:cNvSpPr/>
          <p:nvPr/>
        </p:nvSpPr>
        <p:spPr>
          <a:xfrm>
            <a:off x="6035040" y="2779776"/>
            <a:ext cx="2926080" cy="594360"/>
          </a:xfrm>
          <a:prstGeom prst="rect">
            <a:avLst/>
          </a:prstGeom>
          <a:noFill/>
          <a:ln/>
        </p:spPr>
        <p:txBody>
          <a:bodyPr wrap="square" rtlCol="0" anchor="ctr"/>
          <a:lstStyle/>
          <a:p>
            <a:pPr algn="ctr" indent="0" marL="0">
              <a:buNone/>
            </a:pPr>
            <a:r>
              <a:rPr lang="en-US" sz="3000" b="1" dirty="0">
                <a:solidFill>
                  <a:srgbClr val="2EC4B6"/>
                </a:solidFill>
                <a:latin typeface="Calibri" pitchFamily="34" charset="0"/>
                <a:ea typeface="Calibri" pitchFamily="34" charset="-122"/>
                <a:cs typeface="Calibri" pitchFamily="34" charset="-120"/>
              </a:rPr>
              <a:t>7,023</a:t>
            </a:r>
            <a:endParaRPr lang="en-US" sz="3000" dirty="0"/>
          </a:p>
        </p:txBody>
      </p:sp>
      <p:sp>
        <p:nvSpPr>
          <p:cNvPr id="16" name="Text 14"/>
          <p:cNvSpPr/>
          <p:nvPr/>
        </p:nvSpPr>
        <p:spPr>
          <a:xfrm>
            <a:off x="6035040" y="3346704"/>
            <a:ext cx="2926080" cy="256032"/>
          </a:xfrm>
          <a:prstGeom prst="rect">
            <a:avLst/>
          </a:prstGeom>
          <a:noFill/>
          <a:ln/>
        </p:spPr>
        <p:txBody>
          <a:bodyPr wrap="square" rtlCol="0" anchor="ctr"/>
          <a:lstStyle/>
          <a:p>
            <a:pPr algn="ctr" indent="0" marL="0">
              <a:buNone/>
            </a:pPr>
            <a:r>
              <a:rPr lang="en-US" sz="1000" dirty="0">
                <a:solidFill>
                  <a:srgbClr val="7FA8B8"/>
                </a:solidFill>
              </a:rPr>
              <a:t>MRI Images</a:t>
            </a:r>
            <a:endParaRPr lang="en-US" sz="1000" dirty="0"/>
          </a:p>
        </p:txBody>
      </p:sp>
      <p:sp>
        <p:nvSpPr>
          <p:cNvPr id="17" name="Text 15"/>
          <p:cNvSpPr/>
          <p:nvPr/>
        </p:nvSpPr>
        <p:spPr>
          <a:xfrm>
            <a:off x="6035040" y="3895344"/>
            <a:ext cx="2926080" cy="594360"/>
          </a:xfrm>
          <a:prstGeom prst="rect">
            <a:avLst/>
          </a:prstGeom>
          <a:noFill/>
          <a:ln/>
        </p:spPr>
        <p:txBody>
          <a:bodyPr wrap="square" rtlCol="0" anchor="ctr"/>
          <a:lstStyle/>
          <a:p>
            <a:pPr algn="ctr" indent="0" marL="0">
              <a:buNone/>
            </a:pPr>
            <a:r>
              <a:rPr lang="en-US" sz="3000" b="1" dirty="0">
                <a:solidFill>
                  <a:srgbClr val="2EC4B6"/>
                </a:solidFill>
                <a:latin typeface="Calibri" pitchFamily="34" charset="0"/>
                <a:ea typeface="Calibri" pitchFamily="34" charset="-122"/>
                <a:cs typeface="Calibri" pitchFamily="34" charset="-120"/>
              </a:rPr>
              <a:t>4</a:t>
            </a:r>
            <a:endParaRPr lang="en-US" sz="3000" dirty="0"/>
          </a:p>
        </p:txBody>
      </p:sp>
      <p:sp>
        <p:nvSpPr>
          <p:cNvPr id="18" name="Text 16"/>
          <p:cNvSpPr/>
          <p:nvPr/>
        </p:nvSpPr>
        <p:spPr>
          <a:xfrm>
            <a:off x="6035040" y="4462272"/>
            <a:ext cx="2926080" cy="256032"/>
          </a:xfrm>
          <a:prstGeom prst="rect">
            <a:avLst/>
          </a:prstGeom>
          <a:noFill/>
          <a:ln/>
        </p:spPr>
        <p:txBody>
          <a:bodyPr wrap="square" rtlCol="0" anchor="ctr"/>
          <a:lstStyle/>
          <a:p>
            <a:pPr algn="ctr" indent="0" marL="0">
              <a:buNone/>
            </a:pPr>
            <a:r>
              <a:rPr lang="en-US" sz="1000" dirty="0">
                <a:solidFill>
                  <a:srgbClr val="7FA8B8"/>
                </a:solidFill>
              </a:rPr>
              <a:t>Tumor Classes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A6B72"/>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2 / 17</a:t>
            </a:r>
            <a:endParaRPr lang="en-US" sz="900" dirty="0"/>
          </a:p>
        </p:txBody>
      </p:sp>
      <p:sp>
        <p:nvSpPr>
          <p:cNvPr id="4" name="Shape 2"/>
          <p:cNvSpPr/>
          <p:nvPr/>
        </p:nvSpPr>
        <p:spPr>
          <a:xfrm>
            <a:off x="457200" y="201168"/>
            <a:ext cx="1536192" cy="256032"/>
          </a:xfrm>
          <a:prstGeom prst="rect">
            <a:avLst/>
          </a:prstGeom>
          <a:solidFill>
            <a:srgbClr val="2EC4B6"/>
          </a:solidFill>
          <a:ln/>
        </p:spPr>
      </p:sp>
      <p:sp>
        <p:nvSpPr>
          <p:cNvPr id="5" name="Text 3"/>
          <p:cNvSpPr/>
          <p:nvPr/>
        </p:nvSpPr>
        <p:spPr>
          <a:xfrm>
            <a:off x="457200" y="201168"/>
            <a:ext cx="1536192" cy="256032"/>
          </a:xfrm>
          <a:prstGeom prst="rect">
            <a:avLst/>
          </a:prstGeom>
          <a:noFill/>
          <a:ln/>
        </p:spPr>
        <p:txBody>
          <a:bodyPr wrap="square" lIns="0" tIns="0" rIns="0" bIns="0" rtlCol="0" anchor="ctr"/>
          <a:lstStyle/>
          <a:p>
            <a:pPr algn="ctr" indent="0" marL="0">
              <a:buNone/>
            </a:pPr>
            <a:r>
              <a:rPr lang="en-US" sz="850" b="1" dirty="0">
                <a:solidFill>
                  <a:srgbClr val="0D1B2A"/>
                </a:solidFill>
              </a:rPr>
              <a:t>INTRODUCTION</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From CNNs to Vision-Language Models in Medical Imaging</a:t>
            </a:r>
            <a:endParaRPr lang="en-US" sz="2600" dirty="0"/>
          </a:p>
        </p:txBody>
      </p:sp>
      <p:sp>
        <p:nvSpPr>
          <p:cNvPr id="7" name="Text 5"/>
          <p:cNvSpPr/>
          <p:nvPr/>
        </p:nvSpPr>
        <p:spPr>
          <a:xfrm>
            <a:off x="457200" y="1298448"/>
            <a:ext cx="8229600" cy="3566160"/>
          </a:xfrm>
          <a:prstGeom prst="rect">
            <a:avLst/>
          </a:prstGeom>
          <a:noFill/>
          <a:ln/>
        </p:spPr>
        <p:txBody>
          <a:bodyPr wrap="square" rtlCol="0" anchor="ctr"/>
          <a:lstStyle/>
          <a:p>
            <a:pPr marL="342900" indent="-342900">
              <a:spcAft>
                <a:spcPts val="1000"/>
              </a:spcAft>
              <a:buSzPct val="100000"/>
              <a:buChar char="•"/>
            </a:pPr>
            <a:r>
              <a:rPr lang="en-US" sz="1450" dirty="0">
                <a:solidFill>
                  <a:srgbClr val="1C2E3A"/>
                </a:solidFill>
                <a:latin typeface="Calibri" pitchFamily="34" charset="0"/>
                <a:ea typeface="Calibri" pitchFamily="34" charset="-122"/>
                <a:cs typeface="Calibri" pitchFamily="34" charset="-120"/>
              </a:rPr>
              <a:t>Traditional CNNs (ResNet, VGG, DenseNet) dominate medical image classification but suffer from limited generalization, poor domain adaptability, and brittleness under distribution shift in real-world MRI conditions.</a:t>
            </a:r>
            <a:endParaRPr lang="en-US" sz="1450" dirty="0"/>
          </a:p>
          <a:p>
            <a:pPr marL="342900" indent="-342900">
              <a:spcAft>
                <a:spcPts val="1000"/>
              </a:spcAft>
              <a:buSzPct val="100000"/>
              <a:buChar char="•"/>
            </a:pPr>
            <a:r>
              <a:rPr lang="en-US" sz="1450" dirty="0">
                <a:solidFill>
                  <a:srgbClr val="1C2E3A"/>
                </a:solidFill>
                <a:latin typeface="Calibri" pitchFamily="34" charset="0"/>
                <a:ea typeface="Calibri" pitchFamily="34" charset="-122"/>
                <a:cs typeface="Calibri" pitchFamily="34" charset="-120"/>
              </a:rPr>
              <a:t>Vision-Language Models (VLMs) — CLIP (Contrastive Language-Image Pretraining) and BLIP (Bootstrapped Language-Image Pretraining) — represent a paradigm shift: leveraging large-scale image-text pretraining to produce semantically rich embeddings via Vision Transformer (ViT) encoders.</a:t>
            </a:r>
            <a:endParaRPr lang="en-US" sz="1450" dirty="0"/>
          </a:p>
          <a:p>
            <a:pPr marL="342900" indent="-342900">
              <a:spcAft>
                <a:spcPts val="1000"/>
              </a:spcAft>
              <a:buSzPct val="100000"/>
              <a:buChar char="•"/>
            </a:pPr>
            <a:r>
              <a:rPr lang="en-US" sz="1450" dirty="0">
                <a:solidFill>
                  <a:srgbClr val="1C2E3A"/>
                </a:solidFill>
                <a:latin typeface="Calibri" pitchFamily="34" charset="0"/>
                <a:ea typeface="Calibri" pitchFamily="34" charset="-122"/>
                <a:cs typeface="Calibri" pitchFamily="34" charset="-120"/>
              </a:rPr>
              <a:t>While VLMs show strong zero-shot and transfer learning capability, their applicability in domain-specific medical imaging remains underexplored — creating the central research gap this study addresses.</a:t>
            </a:r>
            <a:endParaRPr lang="en-US" sz="1450" dirty="0"/>
          </a:p>
          <a:p>
            <a:pPr marL="342900" indent="-342900">
              <a:spcAft>
                <a:spcPts val="1000"/>
              </a:spcAft>
              <a:buSzPct val="100000"/>
              <a:buChar char="•"/>
            </a:pPr>
            <a:r>
              <a:rPr lang="en-US" sz="1450" dirty="0">
                <a:solidFill>
                  <a:srgbClr val="1C2E3A"/>
                </a:solidFill>
                <a:latin typeface="Calibri" pitchFamily="34" charset="0"/>
                <a:ea typeface="Calibri" pitchFamily="34" charset="-122"/>
                <a:cs typeface="Calibri" pitchFamily="34" charset="-120"/>
              </a:rPr>
              <a:t>This study proposes supervised fine-tuning of both BLIP and CLIP on a curated 7,023-image MRI dataset, moving beyond zero-shot paradigms to maximise domain-specific diagnostic performance.</a:t>
            </a:r>
            <a:endParaRPr lang="en-US" sz="1450" dirty="0"/>
          </a:p>
        </p:txBody>
      </p:sp>
      <p:sp>
        <p:nvSpPr>
          <p:cNvPr id="8" name="Shape 6"/>
          <p:cNvSpPr/>
          <p:nvPr/>
        </p:nvSpPr>
        <p:spPr>
          <a:xfrm>
            <a:off x="8732520" y="164592"/>
            <a:ext cx="411480" cy="4974336"/>
          </a:xfrm>
          <a:prstGeom prst="rect">
            <a:avLst/>
          </a:prstGeom>
          <a:solidFill>
            <a:srgbClr val="2EC4B6">
              <a:alpha val="40000"/>
            </a:srgbClr>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E07B39"/>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3 / 17</a:t>
            </a:r>
            <a:endParaRPr lang="en-US" sz="900" dirty="0"/>
          </a:p>
        </p:txBody>
      </p:sp>
      <p:sp>
        <p:nvSpPr>
          <p:cNvPr id="4" name="Shape 2"/>
          <p:cNvSpPr/>
          <p:nvPr/>
        </p:nvSpPr>
        <p:spPr>
          <a:xfrm>
            <a:off x="457200" y="201168"/>
            <a:ext cx="2061972" cy="256032"/>
          </a:xfrm>
          <a:prstGeom prst="rect">
            <a:avLst/>
          </a:prstGeom>
          <a:solidFill>
            <a:srgbClr val="E07B39"/>
          </a:solidFill>
          <a:ln/>
        </p:spPr>
      </p:sp>
      <p:sp>
        <p:nvSpPr>
          <p:cNvPr id="5" name="Text 3"/>
          <p:cNvSpPr/>
          <p:nvPr/>
        </p:nvSpPr>
        <p:spPr>
          <a:xfrm>
            <a:off x="457200" y="201168"/>
            <a:ext cx="2061972" cy="256032"/>
          </a:xfrm>
          <a:prstGeom prst="rect">
            <a:avLst/>
          </a:prstGeom>
          <a:noFill/>
          <a:ln/>
        </p:spPr>
        <p:txBody>
          <a:bodyPr wrap="square" lIns="0" tIns="0" rIns="0" bIns="0" rtlCol="0" anchor="ctr"/>
          <a:lstStyle/>
          <a:p>
            <a:pPr algn="ctr" indent="0" marL="0">
              <a:buNone/>
            </a:pPr>
            <a:r>
              <a:rPr lang="en-US" sz="850" b="1" dirty="0">
                <a:solidFill>
                  <a:srgbClr val="0D1B2A"/>
                </a:solidFill>
              </a:rPr>
              <a:t>PROBLEM STATEMENT</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Limitations of Zero-Shot VLM Classification in Medical Imaging</a:t>
            </a:r>
            <a:endParaRPr lang="en-US" sz="2600" dirty="0"/>
          </a:p>
        </p:txBody>
      </p:sp>
      <p:sp>
        <p:nvSpPr>
          <p:cNvPr id="7" name="Text 5"/>
          <p:cNvSpPr/>
          <p:nvPr/>
        </p:nvSpPr>
        <p:spPr>
          <a:xfrm>
            <a:off x="457200" y="1298448"/>
            <a:ext cx="8229600" cy="3566160"/>
          </a:xfrm>
          <a:prstGeom prst="rect">
            <a:avLst/>
          </a:prstGeom>
          <a:noFill/>
          <a:ln/>
        </p:spPr>
        <p:txBody>
          <a:bodyPr wrap="square" rtlCol="0" anchor="ctr"/>
          <a:lstStyle/>
          <a:p>
            <a:pPr marL="342900" indent="-342900">
              <a:spcAft>
                <a:spcPts val="1000"/>
              </a:spcAft>
              <a:buSzPct val="100000"/>
              <a:buChar char="•"/>
            </a:pPr>
            <a:r>
              <a:rPr lang="en-US" sz="1450" dirty="0">
                <a:solidFill>
                  <a:srgbClr val="1C2E3A"/>
                </a:solidFill>
                <a:latin typeface="Calibri" pitchFamily="34" charset="0"/>
                <a:ea typeface="Calibri" pitchFamily="34" charset="-122"/>
                <a:cs typeface="Calibri" pitchFamily="34" charset="-120"/>
              </a:rPr>
              <a:t>Zero-shot VLMs rely on general-purpose embeddings trained on Internet-scale image-text data — these fail to capture fine-grained pathological distinctions critical in MRI classification (e.g., glioma vs. meningioma boundary textures).</a:t>
            </a:r>
            <a:endParaRPr lang="en-US" sz="1450" dirty="0"/>
          </a:p>
          <a:p>
            <a:pPr marL="342900" indent="-342900">
              <a:spcAft>
                <a:spcPts val="1000"/>
              </a:spcAft>
              <a:buSzPct val="100000"/>
              <a:buChar char="•"/>
            </a:pPr>
            <a:r>
              <a:rPr lang="en-US" sz="1450" dirty="0">
                <a:solidFill>
                  <a:srgbClr val="1C2E3A"/>
                </a:solidFill>
                <a:latin typeface="Calibri" pitchFamily="34" charset="0"/>
                <a:ea typeface="Calibri" pitchFamily="34" charset="-122"/>
                <a:cs typeface="Calibri" pitchFamily="34" charset="-120"/>
              </a:rPr>
              <a:t>Domain shift from natural images to clinical MRI scans introduces embedding misalignment, where class-label prompts like 'a photo of a glioma' carry insufficient anatomical specificity.</a:t>
            </a:r>
            <a:endParaRPr lang="en-US" sz="1450" dirty="0"/>
          </a:p>
          <a:p>
            <a:pPr marL="342900" indent="-342900">
              <a:spcAft>
                <a:spcPts val="1000"/>
              </a:spcAft>
              <a:buSzPct val="100000"/>
              <a:buChar char="•"/>
            </a:pPr>
            <a:r>
              <a:rPr lang="en-US" sz="1450" dirty="0">
                <a:solidFill>
                  <a:srgbClr val="1C2E3A"/>
                </a:solidFill>
                <a:latin typeface="Calibri" pitchFamily="34" charset="0"/>
                <a:ea typeface="Calibri" pitchFamily="34" charset="-122"/>
                <a:cs typeface="Calibri" pitchFamily="34" charset="-120"/>
              </a:rPr>
              <a:t>Class imbalance and visual similarity between tumour types (particularly glioma and meningioma) amplify false negative risk — a clinically unacceptable outcome in oncological diagnosis.</a:t>
            </a:r>
            <a:endParaRPr lang="en-US" sz="1450" dirty="0"/>
          </a:p>
          <a:p>
            <a:pPr marL="342900" indent="-342900">
              <a:spcAft>
                <a:spcPts val="1000"/>
              </a:spcAft>
              <a:buSzPct val="100000"/>
              <a:buChar char="•"/>
            </a:pPr>
            <a:r>
              <a:rPr lang="en-US" sz="1450" dirty="0">
                <a:solidFill>
                  <a:srgbClr val="1C2E3A"/>
                </a:solidFill>
                <a:latin typeface="Calibri" pitchFamily="34" charset="0"/>
                <a:ea typeface="Calibri" pitchFamily="34" charset="-122"/>
                <a:cs typeface="Calibri" pitchFamily="34" charset="-120"/>
              </a:rPr>
              <a:t>This motivates supervised fine-tuning of vision encoders with frozen text components, ensuring domain-specific visual representations while retaining pre-trained semantic structure.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A6B72"/>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4 / 17</a:t>
            </a:r>
            <a:endParaRPr lang="en-US" sz="900" dirty="0"/>
          </a:p>
        </p:txBody>
      </p:sp>
      <p:sp>
        <p:nvSpPr>
          <p:cNvPr id="4" name="Shape 2"/>
          <p:cNvSpPr/>
          <p:nvPr/>
        </p:nvSpPr>
        <p:spPr>
          <a:xfrm>
            <a:off x="457200" y="201168"/>
            <a:ext cx="1956816" cy="256032"/>
          </a:xfrm>
          <a:prstGeom prst="rect">
            <a:avLst/>
          </a:prstGeom>
          <a:solidFill>
            <a:srgbClr val="2EC4B6"/>
          </a:solidFill>
          <a:ln/>
        </p:spPr>
      </p:sp>
      <p:sp>
        <p:nvSpPr>
          <p:cNvPr id="5" name="Text 3"/>
          <p:cNvSpPr/>
          <p:nvPr/>
        </p:nvSpPr>
        <p:spPr>
          <a:xfrm>
            <a:off x="457200" y="201168"/>
            <a:ext cx="1956816" cy="256032"/>
          </a:xfrm>
          <a:prstGeom prst="rect">
            <a:avLst/>
          </a:prstGeom>
          <a:noFill/>
          <a:ln/>
        </p:spPr>
        <p:txBody>
          <a:bodyPr wrap="square" lIns="0" tIns="0" rIns="0" bIns="0" rtlCol="0" anchor="ctr"/>
          <a:lstStyle/>
          <a:p>
            <a:pPr algn="ctr" indent="0" marL="0">
              <a:buNone/>
            </a:pPr>
            <a:r>
              <a:rPr lang="en-US" sz="850" b="1" dirty="0">
                <a:solidFill>
                  <a:srgbClr val="0D1B2A"/>
                </a:solidFill>
              </a:rPr>
              <a:t>DATASET OVERVIEW</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Dataset: 7,023 Brain MRI Images Across Four Classes</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828800"/>
                <a:gridCol w="1645920"/>
                <a:gridCol w="1645920"/>
                <a:gridCol w="1280160"/>
                <a:gridCol w="1828800"/>
              </a:tblGrid>
              <a:tr h="4114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Tumour Class</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Train Images</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Test Images</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Source Dataset</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r>
              <a:tr h="411480">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Glioma</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1,321</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300</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1,621</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Kaggle + Figshare</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411480">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Meningioma</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1,339</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306</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1,645</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Kaggle + Figshare</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411480">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No Tumor</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1,595</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405</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2,000</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Br35H</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411480">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Pituitary</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1,457</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300</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1,757</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C2E3A"/>
                          </a:solidFill>
                          <a:latin typeface="Calibri" pitchFamily="34" charset="0"/>
                          <a:ea typeface="Calibri" pitchFamily="34" charset="-122"/>
                          <a:cs typeface="Calibri" pitchFamily="34" charset="-120"/>
                        </a:rPr>
                        <a:t>Kaggle + Figshare</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411480">
                <a:tc>
                  <a:txBody>
                    <a:bodyPr/>
                    <a:lstStyle/>
                    <a:p>
                      <a:pPr algn="ctr" indent="0" marL="0">
                        <a:buNone/>
                      </a:pPr>
                      <a:r>
                        <a:rPr lang="en-US" sz="1300" b="1" dirty="0">
                          <a:solidFill>
                            <a:srgbClr val="1C2E3A"/>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C2E3A"/>
                          </a:solidFill>
                          <a:latin typeface="Calibri" pitchFamily="34" charset="0"/>
                          <a:ea typeface="Calibri" pitchFamily="34" charset="-122"/>
                          <a:cs typeface="Calibri" pitchFamily="34" charset="-120"/>
                        </a:rPr>
                        <a:t>5,712</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C2E3A"/>
                          </a:solidFill>
                          <a:latin typeface="Calibri" pitchFamily="34" charset="0"/>
                          <a:ea typeface="Calibri" pitchFamily="34" charset="-122"/>
                          <a:cs typeface="Calibri" pitchFamily="34" charset="-120"/>
                        </a:rPr>
                        <a:t>1,311</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C2E3A"/>
                          </a:solidFill>
                          <a:latin typeface="Calibri" pitchFamily="34" charset="0"/>
                          <a:ea typeface="Calibri" pitchFamily="34" charset="-122"/>
                          <a:cs typeface="Calibri" pitchFamily="34" charset="-120"/>
                        </a:rPr>
                        <a:t>7,023</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C2E3A"/>
                          </a:solidFill>
                          <a:latin typeface="Calibri" pitchFamily="34" charset="0"/>
                          <a:ea typeface="Calibri" pitchFamily="34" charset="-122"/>
                          <a:cs typeface="Calibri" pitchFamily="34" charset="-120"/>
                        </a:rPr>
                        <a:t>3 Public Repos</a:t>
                      </a:r>
                      <a:endParaRPr lang="en-US" sz="13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bl>
          </a:graphicData>
        </a:graphic>
      </p:graphicFrame>
      <p:sp>
        <p:nvSpPr>
          <p:cNvPr id="8" name="Text 5"/>
          <p:cNvSpPr/>
          <p:nvPr/>
        </p:nvSpPr>
        <p:spPr>
          <a:xfrm>
            <a:off x="457200" y="4297680"/>
            <a:ext cx="8229600" cy="457200"/>
          </a:xfrm>
          <a:prstGeom prst="rect">
            <a:avLst/>
          </a:prstGeom>
          <a:noFill/>
          <a:ln/>
        </p:spPr>
        <p:txBody>
          <a:bodyPr wrap="square" rtlCol="0" anchor="ctr"/>
          <a:lstStyle/>
          <a:p>
            <a:pPr algn="ctr" indent="0" marL="0">
              <a:buNone/>
            </a:pPr>
            <a:r>
              <a:rPr lang="en-US" sz="1100" i="1" dirty="0">
                <a:solidFill>
                  <a:srgbClr val="7FA8B8"/>
                </a:solidFill>
              </a:rPr>
              <a:t>80/20 stratified train/test split (seed=42) · 5-fold CV · ~52% male · ages 18–75 · T1-weighted axial de-identified MRIs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A6B72"/>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5 / 17</a:t>
            </a:r>
            <a:endParaRPr lang="en-US" sz="900" dirty="0"/>
          </a:p>
        </p:txBody>
      </p:sp>
      <p:sp>
        <p:nvSpPr>
          <p:cNvPr id="4" name="Shape 2"/>
          <p:cNvSpPr/>
          <p:nvPr/>
        </p:nvSpPr>
        <p:spPr>
          <a:xfrm>
            <a:off x="457200" y="201168"/>
            <a:ext cx="2587752" cy="256032"/>
          </a:xfrm>
          <a:prstGeom prst="rect">
            <a:avLst/>
          </a:prstGeom>
          <a:solidFill>
            <a:srgbClr val="2EC4B6"/>
          </a:solidFill>
          <a:ln/>
        </p:spPr>
      </p:sp>
      <p:sp>
        <p:nvSpPr>
          <p:cNvPr id="5" name="Text 3"/>
          <p:cNvSpPr/>
          <p:nvPr/>
        </p:nvSpPr>
        <p:spPr>
          <a:xfrm>
            <a:off x="457200" y="201168"/>
            <a:ext cx="2587752" cy="256032"/>
          </a:xfrm>
          <a:prstGeom prst="rect">
            <a:avLst/>
          </a:prstGeom>
          <a:noFill/>
          <a:ln/>
        </p:spPr>
        <p:txBody>
          <a:bodyPr wrap="square" lIns="0" tIns="0" rIns="0" bIns="0" rtlCol="0" anchor="ctr"/>
          <a:lstStyle/>
          <a:p>
            <a:pPr algn="ctr" indent="0" marL="0">
              <a:buNone/>
            </a:pPr>
            <a:r>
              <a:rPr lang="en-US" sz="850" b="1" dirty="0">
                <a:solidFill>
                  <a:srgbClr val="0D1B2A"/>
                </a:solidFill>
              </a:rPr>
              <a:t>PREPROCESSING PIPELINE</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Robust Preprocessing for Domain Adaptability</a:t>
            </a:r>
            <a:endParaRPr lang="en-US" sz="2600" dirty="0"/>
          </a:p>
        </p:txBody>
      </p:sp>
      <p:sp>
        <p:nvSpPr>
          <p:cNvPr id="7" name="Shape 5"/>
          <p:cNvSpPr/>
          <p:nvPr/>
        </p:nvSpPr>
        <p:spPr>
          <a:xfrm>
            <a:off x="457200" y="1325880"/>
            <a:ext cx="4023360"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8" name="Shape 6"/>
          <p:cNvSpPr/>
          <p:nvPr/>
        </p:nvSpPr>
        <p:spPr>
          <a:xfrm>
            <a:off x="457200" y="1325880"/>
            <a:ext cx="82296" cy="804672"/>
          </a:xfrm>
          <a:prstGeom prst="rect">
            <a:avLst/>
          </a:prstGeom>
          <a:solidFill>
            <a:srgbClr val="2EC4B6"/>
          </a:solidFill>
          <a:ln/>
        </p:spPr>
      </p:sp>
      <p:sp>
        <p:nvSpPr>
          <p:cNvPr id="9" name="Text 7"/>
          <p:cNvSpPr/>
          <p:nvPr/>
        </p:nvSpPr>
        <p:spPr>
          <a:xfrm>
            <a:off x="621792" y="1371600"/>
            <a:ext cx="3749040" cy="256032"/>
          </a:xfrm>
          <a:prstGeom prst="rect">
            <a:avLst/>
          </a:prstGeom>
          <a:noFill/>
          <a:ln/>
        </p:spPr>
        <p:txBody>
          <a:bodyPr wrap="square" lIns="0" tIns="0" rIns="0" bIns="0" rtlCol="0" anchor="ctr"/>
          <a:lstStyle/>
          <a:p>
            <a:pPr indent="0" marL="0">
              <a:buNone/>
            </a:pPr>
            <a:r>
              <a:rPr lang="en-US" sz="1200" b="1" dirty="0">
                <a:solidFill>
                  <a:srgbClr val="1A6B72"/>
                </a:solidFill>
              </a:rPr>
              <a:t>Resize</a:t>
            </a:r>
            <a:endParaRPr lang="en-US" sz="1200" dirty="0"/>
          </a:p>
        </p:txBody>
      </p:sp>
      <p:sp>
        <p:nvSpPr>
          <p:cNvPr id="10" name="Text 8"/>
          <p:cNvSpPr/>
          <p:nvPr/>
        </p:nvSpPr>
        <p:spPr>
          <a:xfrm>
            <a:off x="621792" y="1618488"/>
            <a:ext cx="3749040" cy="475488"/>
          </a:xfrm>
          <a:prstGeom prst="rect">
            <a:avLst/>
          </a:prstGeom>
          <a:noFill/>
          <a:ln/>
        </p:spPr>
        <p:txBody>
          <a:bodyPr wrap="square" lIns="0" tIns="0" rIns="0" bIns="0" rtlCol="0" anchor="ctr"/>
          <a:lstStyle/>
          <a:p>
            <a:pPr indent="0" marL="0">
              <a:buNone/>
            </a:pPr>
            <a:r>
              <a:rPr lang="en-US" sz="1050" dirty="0">
                <a:solidFill>
                  <a:srgbClr val="1C2E3A"/>
                </a:solidFill>
              </a:rPr>
              <a:t>224×224 px (CLIP/BLIP input); constant input dimensionality across all sources.</a:t>
            </a:r>
            <a:endParaRPr lang="en-US" sz="1050" dirty="0"/>
          </a:p>
        </p:txBody>
      </p:sp>
      <p:sp>
        <p:nvSpPr>
          <p:cNvPr id="11" name="Shape 9"/>
          <p:cNvSpPr/>
          <p:nvPr/>
        </p:nvSpPr>
        <p:spPr>
          <a:xfrm>
            <a:off x="457200" y="2221992"/>
            <a:ext cx="4023360"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2" name="Shape 10"/>
          <p:cNvSpPr/>
          <p:nvPr/>
        </p:nvSpPr>
        <p:spPr>
          <a:xfrm>
            <a:off x="457200" y="2221992"/>
            <a:ext cx="82296" cy="804672"/>
          </a:xfrm>
          <a:prstGeom prst="rect">
            <a:avLst/>
          </a:prstGeom>
          <a:solidFill>
            <a:srgbClr val="2EC4B6"/>
          </a:solidFill>
          <a:ln/>
        </p:spPr>
      </p:sp>
      <p:sp>
        <p:nvSpPr>
          <p:cNvPr id="13" name="Text 11"/>
          <p:cNvSpPr/>
          <p:nvPr/>
        </p:nvSpPr>
        <p:spPr>
          <a:xfrm>
            <a:off x="621792" y="2267712"/>
            <a:ext cx="3749040" cy="256032"/>
          </a:xfrm>
          <a:prstGeom prst="rect">
            <a:avLst/>
          </a:prstGeom>
          <a:noFill/>
          <a:ln/>
        </p:spPr>
        <p:txBody>
          <a:bodyPr wrap="square" lIns="0" tIns="0" rIns="0" bIns="0" rtlCol="0" anchor="ctr"/>
          <a:lstStyle/>
          <a:p>
            <a:pPr indent="0" marL="0">
              <a:buNone/>
            </a:pPr>
            <a:r>
              <a:rPr lang="en-US" sz="1200" b="1" dirty="0">
                <a:solidFill>
                  <a:srgbClr val="1A6B72"/>
                </a:solidFill>
              </a:rPr>
              <a:t>Normalize</a:t>
            </a:r>
            <a:endParaRPr lang="en-US" sz="1200" dirty="0"/>
          </a:p>
        </p:txBody>
      </p:sp>
      <p:sp>
        <p:nvSpPr>
          <p:cNvPr id="14" name="Text 12"/>
          <p:cNvSpPr/>
          <p:nvPr/>
        </p:nvSpPr>
        <p:spPr>
          <a:xfrm>
            <a:off x="621792" y="2514600"/>
            <a:ext cx="3749040" cy="475488"/>
          </a:xfrm>
          <a:prstGeom prst="rect">
            <a:avLst/>
          </a:prstGeom>
          <a:noFill/>
          <a:ln/>
        </p:spPr>
        <p:txBody>
          <a:bodyPr wrap="square" lIns="0" tIns="0" rIns="0" bIns="0" rtlCol="0" anchor="ctr"/>
          <a:lstStyle/>
          <a:p>
            <a:pPr indent="0" marL="0">
              <a:buNone/>
            </a:pPr>
            <a:r>
              <a:rPr lang="en-US" sz="1050" dirty="0">
                <a:solidFill>
                  <a:srgbClr val="1C2E3A"/>
                </a:solidFill>
              </a:rPr>
              <a:t>Pixel values scaled to [–1, 1] (mean=0.5, std=0.5) for gradient stability.</a:t>
            </a:r>
            <a:endParaRPr lang="en-US" sz="1050" dirty="0"/>
          </a:p>
        </p:txBody>
      </p:sp>
      <p:sp>
        <p:nvSpPr>
          <p:cNvPr id="15" name="Shape 13"/>
          <p:cNvSpPr/>
          <p:nvPr/>
        </p:nvSpPr>
        <p:spPr>
          <a:xfrm>
            <a:off x="457200" y="3118104"/>
            <a:ext cx="4023360"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16" name="Shape 14"/>
          <p:cNvSpPr/>
          <p:nvPr/>
        </p:nvSpPr>
        <p:spPr>
          <a:xfrm>
            <a:off x="457200" y="3118104"/>
            <a:ext cx="82296" cy="804672"/>
          </a:xfrm>
          <a:prstGeom prst="rect">
            <a:avLst/>
          </a:prstGeom>
          <a:solidFill>
            <a:srgbClr val="2EC4B6"/>
          </a:solidFill>
          <a:ln/>
        </p:spPr>
      </p:sp>
      <p:sp>
        <p:nvSpPr>
          <p:cNvPr id="17" name="Text 15"/>
          <p:cNvSpPr/>
          <p:nvPr/>
        </p:nvSpPr>
        <p:spPr>
          <a:xfrm>
            <a:off x="621792" y="3163824"/>
            <a:ext cx="3749040" cy="256032"/>
          </a:xfrm>
          <a:prstGeom prst="rect">
            <a:avLst/>
          </a:prstGeom>
          <a:noFill/>
          <a:ln/>
        </p:spPr>
        <p:txBody>
          <a:bodyPr wrap="square" lIns="0" tIns="0" rIns="0" bIns="0" rtlCol="0" anchor="ctr"/>
          <a:lstStyle/>
          <a:p>
            <a:pPr indent="0" marL="0">
              <a:buNone/>
            </a:pPr>
            <a:r>
              <a:rPr lang="en-US" sz="1200" b="1" dirty="0">
                <a:solidFill>
                  <a:srgbClr val="1A6B72"/>
                </a:solidFill>
              </a:rPr>
              <a:t>Augmentation</a:t>
            </a:r>
            <a:endParaRPr lang="en-US" sz="1200" dirty="0"/>
          </a:p>
        </p:txBody>
      </p:sp>
      <p:sp>
        <p:nvSpPr>
          <p:cNvPr id="18" name="Text 16"/>
          <p:cNvSpPr/>
          <p:nvPr/>
        </p:nvSpPr>
        <p:spPr>
          <a:xfrm>
            <a:off x="621792" y="3410712"/>
            <a:ext cx="3749040" cy="475488"/>
          </a:xfrm>
          <a:prstGeom prst="rect">
            <a:avLst/>
          </a:prstGeom>
          <a:noFill/>
          <a:ln/>
        </p:spPr>
        <p:txBody>
          <a:bodyPr wrap="square" lIns="0" tIns="0" rIns="0" bIns="0" rtlCol="0" anchor="ctr"/>
          <a:lstStyle/>
          <a:p>
            <a:pPr indent="0" marL="0">
              <a:buNone/>
            </a:pPr>
            <a:r>
              <a:rPr lang="en-US" sz="1050" dirty="0">
                <a:solidFill>
                  <a:srgbClr val="1C2E3A"/>
                </a:solidFill>
              </a:rPr>
              <a:t>Random horizontal/vertical flips (train-only); zoom, rotation to reduce overfitting.</a:t>
            </a:r>
            <a:endParaRPr lang="en-US" sz="1050" dirty="0"/>
          </a:p>
        </p:txBody>
      </p:sp>
      <p:sp>
        <p:nvSpPr>
          <p:cNvPr id="19" name="Shape 17"/>
          <p:cNvSpPr/>
          <p:nvPr/>
        </p:nvSpPr>
        <p:spPr>
          <a:xfrm>
            <a:off x="457200" y="4014216"/>
            <a:ext cx="4023360"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0" name="Shape 18"/>
          <p:cNvSpPr/>
          <p:nvPr/>
        </p:nvSpPr>
        <p:spPr>
          <a:xfrm>
            <a:off x="457200" y="4014216"/>
            <a:ext cx="82296" cy="804672"/>
          </a:xfrm>
          <a:prstGeom prst="rect">
            <a:avLst/>
          </a:prstGeom>
          <a:solidFill>
            <a:srgbClr val="2EC4B6"/>
          </a:solidFill>
          <a:ln/>
        </p:spPr>
      </p:sp>
      <p:sp>
        <p:nvSpPr>
          <p:cNvPr id="21" name="Text 19"/>
          <p:cNvSpPr/>
          <p:nvPr/>
        </p:nvSpPr>
        <p:spPr>
          <a:xfrm>
            <a:off x="621792" y="4059936"/>
            <a:ext cx="3749040" cy="256032"/>
          </a:xfrm>
          <a:prstGeom prst="rect">
            <a:avLst/>
          </a:prstGeom>
          <a:noFill/>
          <a:ln/>
        </p:spPr>
        <p:txBody>
          <a:bodyPr wrap="square" lIns="0" tIns="0" rIns="0" bIns="0" rtlCol="0" anchor="ctr"/>
          <a:lstStyle/>
          <a:p>
            <a:pPr indent="0" marL="0">
              <a:buNone/>
            </a:pPr>
            <a:r>
              <a:rPr lang="en-US" sz="1200" b="1" dirty="0">
                <a:solidFill>
                  <a:srgbClr val="1A6B72"/>
                </a:solidFill>
              </a:rPr>
              <a:t>Contrast &amp; Brightness</a:t>
            </a:r>
            <a:endParaRPr lang="en-US" sz="1200" dirty="0"/>
          </a:p>
        </p:txBody>
      </p:sp>
      <p:sp>
        <p:nvSpPr>
          <p:cNvPr id="22" name="Text 20"/>
          <p:cNvSpPr/>
          <p:nvPr/>
        </p:nvSpPr>
        <p:spPr>
          <a:xfrm>
            <a:off x="621792" y="4306824"/>
            <a:ext cx="3749040" cy="475488"/>
          </a:xfrm>
          <a:prstGeom prst="rect">
            <a:avLst/>
          </a:prstGeom>
          <a:noFill/>
          <a:ln/>
        </p:spPr>
        <p:txBody>
          <a:bodyPr wrap="square" lIns="0" tIns="0" rIns="0" bIns="0" rtlCol="0" anchor="ctr"/>
          <a:lstStyle/>
          <a:p>
            <a:pPr indent="0" marL="0">
              <a:buNone/>
            </a:pPr>
            <a:r>
              <a:rPr lang="en-US" sz="1050" dirty="0">
                <a:solidFill>
                  <a:srgbClr val="1C2E3A"/>
                </a:solidFill>
              </a:rPr>
              <a:t>Variation simulation to account for cross-scanner MRI acquisition differences.</a:t>
            </a:r>
            <a:endParaRPr lang="en-US" sz="1050" dirty="0"/>
          </a:p>
        </p:txBody>
      </p:sp>
      <p:sp>
        <p:nvSpPr>
          <p:cNvPr id="23" name="Shape 21"/>
          <p:cNvSpPr/>
          <p:nvPr/>
        </p:nvSpPr>
        <p:spPr>
          <a:xfrm>
            <a:off x="4617720" y="1325880"/>
            <a:ext cx="4023360"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4" name="Shape 22"/>
          <p:cNvSpPr/>
          <p:nvPr/>
        </p:nvSpPr>
        <p:spPr>
          <a:xfrm>
            <a:off x="4617720" y="1325880"/>
            <a:ext cx="82296" cy="804672"/>
          </a:xfrm>
          <a:prstGeom prst="rect">
            <a:avLst/>
          </a:prstGeom>
          <a:solidFill>
            <a:srgbClr val="2EC4B6"/>
          </a:solidFill>
          <a:ln/>
        </p:spPr>
      </p:sp>
      <p:sp>
        <p:nvSpPr>
          <p:cNvPr id="25" name="Text 23"/>
          <p:cNvSpPr/>
          <p:nvPr/>
        </p:nvSpPr>
        <p:spPr>
          <a:xfrm>
            <a:off x="4782312" y="1371600"/>
            <a:ext cx="3749040" cy="256032"/>
          </a:xfrm>
          <a:prstGeom prst="rect">
            <a:avLst/>
          </a:prstGeom>
          <a:noFill/>
          <a:ln/>
        </p:spPr>
        <p:txBody>
          <a:bodyPr wrap="square" lIns="0" tIns="0" rIns="0" bIns="0" rtlCol="0" anchor="ctr"/>
          <a:lstStyle/>
          <a:p>
            <a:pPr indent="0" marL="0">
              <a:buNone/>
            </a:pPr>
            <a:r>
              <a:rPr lang="en-US" sz="1200" b="1" dirty="0">
                <a:solidFill>
                  <a:srgbClr val="1A6B72"/>
                </a:solidFill>
              </a:rPr>
              <a:t>Gaussian Noise</a:t>
            </a:r>
            <a:endParaRPr lang="en-US" sz="1200" dirty="0"/>
          </a:p>
        </p:txBody>
      </p:sp>
      <p:sp>
        <p:nvSpPr>
          <p:cNvPr id="26" name="Text 24"/>
          <p:cNvSpPr/>
          <p:nvPr/>
        </p:nvSpPr>
        <p:spPr>
          <a:xfrm>
            <a:off x="4782312" y="1618488"/>
            <a:ext cx="3749040" cy="475488"/>
          </a:xfrm>
          <a:prstGeom prst="rect">
            <a:avLst/>
          </a:prstGeom>
          <a:noFill/>
          <a:ln/>
        </p:spPr>
        <p:txBody>
          <a:bodyPr wrap="square" lIns="0" tIns="0" rIns="0" bIns="0" rtlCol="0" anchor="ctr"/>
          <a:lstStyle/>
          <a:p>
            <a:pPr indent="0" marL="0">
              <a:buNone/>
            </a:pPr>
            <a:r>
              <a:rPr lang="en-US" sz="1050" dirty="0">
                <a:solidFill>
                  <a:srgbClr val="1C2E3A"/>
                </a:solidFill>
              </a:rPr>
              <a:t>Injected noise (μ=0, σ²=0.02) simulates MRI acquisition noise patterns.</a:t>
            </a:r>
            <a:endParaRPr lang="en-US" sz="1050" dirty="0"/>
          </a:p>
        </p:txBody>
      </p:sp>
      <p:sp>
        <p:nvSpPr>
          <p:cNvPr id="27" name="Shape 25"/>
          <p:cNvSpPr/>
          <p:nvPr/>
        </p:nvSpPr>
        <p:spPr>
          <a:xfrm>
            <a:off x="4617720" y="2221992"/>
            <a:ext cx="4023360"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28" name="Shape 26"/>
          <p:cNvSpPr/>
          <p:nvPr/>
        </p:nvSpPr>
        <p:spPr>
          <a:xfrm>
            <a:off x="4617720" y="2221992"/>
            <a:ext cx="82296" cy="804672"/>
          </a:xfrm>
          <a:prstGeom prst="rect">
            <a:avLst/>
          </a:prstGeom>
          <a:solidFill>
            <a:srgbClr val="2EC4B6"/>
          </a:solidFill>
          <a:ln/>
        </p:spPr>
      </p:sp>
      <p:sp>
        <p:nvSpPr>
          <p:cNvPr id="29" name="Text 27"/>
          <p:cNvSpPr/>
          <p:nvPr/>
        </p:nvSpPr>
        <p:spPr>
          <a:xfrm>
            <a:off x="4782312" y="2267712"/>
            <a:ext cx="3749040" cy="256032"/>
          </a:xfrm>
          <a:prstGeom prst="rect">
            <a:avLst/>
          </a:prstGeom>
          <a:noFill/>
          <a:ln/>
        </p:spPr>
        <p:txBody>
          <a:bodyPr wrap="square" lIns="0" tIns="0" rIns="0" bIns="0" rtlCol="0" anchor="ctr"/>
          <a:lstStyle/>
          <a:p>
            <a:pPr indent="0" marL="0">
              <a:buNone/>
            </a:pPr>
            <a:r>
              <a:rPr lang="en-US" sz="1200" b="1" dirty="0">
                <a:solidFill>
                  <a:srgbClr val="1A6B72"/>
                </a:solidFill>
              </a:rPr>
              <a:t>FGSM Adversarial</a:t>
            </a:r>
            <a:endParaRPr lang="en-US" sz="1200" dirty="0"/>
          </a:p>
        </p:txBody>
      </p:sp>
      <p:sp>
        <p:nvSpPr>
          <p:cNvPr id="30" name="Text 28"/>
          <p:cNvSpPr/>
          <p:nvPr/>
        </p:nvSpPr>
        <p:spPr>
          <a:xfrm>
            <a:off x="4782312" y="2514600"/>
            <a:ext cx="3749040" cy="475488"/>
          </a:xfrm>
          <a:prstGeom prst="rect">
            <a:avLst/>
          </a:prstGeom>
          <a:noFill/>
          <a:ln/>
        </p:spPr>
        <p:txBody>
          <a:bodyPr wrap="square" lIns="0" tIns="0" rIns="0" bIns="0" rtlCol="0" anchor="ctr"/>
          <a:lstStyle/>
          <a:p>
            <a:pPr indent="0" marL="0">
              <a:buNone/>
            </a:pPr>
            <a:r>
              <a:rPr lang="en-US" sz="1050" dirty="0">
                <a:solidFill>
                  <a:srgbClr val="1C2E3A"/>
                </a:solidFill>
              </a:rPr>
              <a:t>ε=0.01 perturbation along gradient direction for adversarial robustness testing.</a:t>
            </a:r>
            <a:endParaRPr lang="en-US" sz="1050" dirty="0"/>
          </a:p>
        </p:txBody>
      </p:sp>
      <p:sp>
        <p:nvSpPr>
          <p:cNvPr id="31" name="Shape 29"/>
          <p:cNvSpPr/>
          <p:nvPr/>
        </p:nvSpPr>
        <p:spPr>
          <a:xfrm>
            <a:off x="4617720" y="3118104"/>
            <a:ext cx="4023360"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2" name="Shape 30"/>
          <p:cNvSpPr/>
          <p:nvPr/>
        </p:nvSpPr>
        <p:spPr>
          <a:xfrm>
            <a:off x="4617720" y="3118104"/>
            <a:ext cx="82296" cy="804672"/>
          </a:xfrm>
          <a:prstGeom prst="rect">
            <a:avLst/>
          </a:prstGeom>
          <a:solidFill>
            <a:srgbClr val="2EC4B6"/>
          </a:solidFill>
          <a:ln/>
        </p:spPr>
      </p:sp>
      <p:sp>
        <p:nvSpPr>
          <p:cNvPr id="33" name="Text 31"/>
          <p:cNvSpPr/>
          <p:nvPr/>
        </p:nvSpPr>
        <p:spPr>
          <a:xfrm>
            <a:off x="4782312" y="3163824"/>
            <a:ext cx="3749040" cy="256032"/>
          </a:xfrm>
          <a:prstGeom prst="rect">
            <a:avLst/>
          </a:prstGeom>
          <a:noFill/>
          <a:ln/>
        </p:spPr>
        <p:txBody>
          <a:bodyPr wrap="square" lIns="0" tIns="0" rIns="0" bIns="0" rtlCol="0" anchor="ctr"/>
          <a:lstStyle/>
          <a:p>
            <a:pPr indent="0" marL="0">
              <a:buNone/>
            </a:pPr>
            <a:r>
              <a:rPr lang="en-US" sz="1200" b="1" dirty="0">
                <a:solidFill>
                  <a:srgbClr val="1A6B72"/>
                </a:solidFill>
              </a:rPr>
              <a:t>PGD Attack Simulation</a:t>
            </a:r>
            <a:endParaRPr lang="en-US" sz="1200" dirty="0"/>
          </a:p>
        </p:txBody>
      </p:sp>
      <p:sp>
        <p:nvSpPr>
          <p:cNvPr id="34" name="Text 32"/>
          <p:cNvSpPr/>
          <p:nvPr/>
        </p:nvSpPr>
        <p:spPr>
          <a:xfrm>
            <a:off x="4782312" y="3410712"/>
            <a:ext cx="3749040" cy="475488"/>
          </a:xfrm>
          <a:prstGeom prst="rect">
            <a:avLst/>
          </a:prstGeom>
          <a:noFill/>
          <a:ln/>
        </p:spPr>
        <p:txBody>
          <a:bodyPr wrap="square" lIns="0" tIns="0" rIns="0" bIns="0" rtlCol="0" anchor="ctr"/>
          <a:lstStyle/>
          <a:p>
            <a:pPr indent="0" marL="0">
              <a:buNone/>
            </a:pPr>
            <a:r>
              <a:rPr lang="en-US" sz="1050" dirty="0">
                <a:solidFill>
                  <a:srgbClr val="1C2E3A"/>
                </a:solidFill>
              </a:rPr>
              <a:t>7-step iterative perturbation (step size 0.01) to model strong adversarial threats.</a:t>
            </a:r>
            <a:endParaRPr lang="en-US" sz="1050" dirty="0"/>
          </a:p>
        </p:txBody>
      </p:sp>
      <p:sp>
        <p:nvSpPr>
          <p:cNvPr id="35" name="Shape 33"/>
          <p:cNvSpPr/>
          <p:nvPr/>
        </p:nvSpPr>
        <p:spPr>
          <a:xfrm>
            <a:off x="4617720" y="4014216"/>
            <a:ext cx="4023360" cy="804672"/>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36" name="Shape 34"/>
          <p:cNvSpPr/>
          <p:nvPr/>
        </p:nvSpPr>
        <p:spPr>
          <a:xfrm>
            <a:off x="4617720" y="4014216"/>
            <a:ext cx="82296" cy="804672"/>
          </a:xfrm>
          <a:prstGeom prst="rect">
            <a:avLst/>
          </a:prstGeom>
          <a:solidFill>
            <a:srgbClr val="2EC4B6"/>
          </a:solidFill>
          <a:ln/>
        </p:spPr>
      </p:sp>
      <p:sp>
        <p:nvSpPr>
          <p:cNvPr id="37" name="Text 35"/>
          <p:cNvSpPr/>
          <p:nvPr/>
        </p:nvSpPr>
        <p:spPr>
          <a:xfrm>
            <a:off x="4782312" y="4059936"/>
            <a:ext cx="3749040" cy="256032"/>
          </a:xfrm>
          <a:prstGeom prst="rect">
            <a:avLst/>
          </a:prstGeom>
          <a:noFill/>
          <a:ln/>
        </p:spPr>
        <p:txBody>
          <a:bodyPr wrap="square" lIns="0" tIns="0" rIns="0" bIns="0" rtlCol="0" anchor="ctr"/>
          <a:lstStyle/>
          <a:p>
            <a:pPr indent="0" marL="0">
              <a:buNone/>
            </a:pPr>
            <a:r>
              <a:rPr lang="en-US" sz="1200" b="1" dirty="0">
                <a:solidFill>
                  <a:srgbClr val="1A6B72"/>
                </a:solidFill>
              </a:rPr>
              <a:t>Text Embedding</a:t>
            </a:r>
            <a:endParaRPr lang="en-US" sz="1200" dirty="0"/>
          </a:p>
        </p:txBody>
      </p:sp>
      <p:sp>
        <p:nvSpPr>
          <p:cNvPr id="38" name="Text 36"/>
          <p:cNvSpPr/>
          <p:nvPr/>
        </p:nvSpPr>
        <p:spPr>
          <a:xfrm>
            <a:off x="4782312" y="4306824"/>
            <a:ext cx="3749040" cy="475488"/>
          </a:xfrm>
          <a:prstGeom prst="rect">
            <a:avLst/>
          </a:prstGeom>
          <a:noFill/>
          <a:ln/>
        </p:spPr>
        <p:txBody>
          <a:bodyPr wrap="square" lIns="0" tIns="0" rIns="0" bIns="0" rtlCol="0" anchor="ctr"/>
          <a:lstStyle/>
          <a:p>
            <a:pPr indent="0" marL="0">
              <a:buNone/>
            </a:pPr>
            <a:r>
              <a:rPr lang="en-US" sz="1050" dirty="0">
                <a:solidFill>
                  <a:srgbClr val="1C2E3A"/>
                </a:solidFill>
              </a:rPr>
              <a:t>Class-label prompts frozen; only vision encoder last-2 layers fine-tuned.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A6B72"/>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6 / 17</a:t>
            </a:r>
            <a:endParaRPr lang="en-US" sz="900" dirty="0"/>
          </a:p>
        </p:txBody>
      </p:sp>
      <p:sp>
        <p:nvSpPr>
          <p:cNvPr id="4" name="Shape 2"/>
          <p:cNvSpPr/>
          <p:nvPr/>
        </p:nvSpPr>
        <p:spPr>
          <a:xfrm>
            <a:off x="457200" y="201168"/>
            <a:ext cx="2377440" cy="256032"/>
          </a:xfrm>
          <a:prstGeom prst="rect">
            <a:avLst/>
          </a:prstGeom>
          <a:solidFill>
            <a:srgbClr val="2EC4B6"/>
          </a:solidFill>
          <a:ln/>
        </p:spPr>
      </p:sp>
      <p:sp>
        <p:nvSpPr>
          <p:cNvPr id="5" name="Text 3"/>
          <p:cNvSpPr/>
          <p:nvPr/>
        </p:nvSpPr>
        <p:spPr>
          <a:xfrm>
            <a:off x="457200" y="201168"/>
            <a:ext cx="2377440" cy="256032"/>
          </a:xfrm>
          <a:prstGeom prst="rect">
            <a:avLst/>
          </a:prstGeom>
          <a:noFill/>
          <a:ln/>
        </p:spPr>
        <p:txBody>
          <a:bodyPr wrap="square" lIns="0" tIns="0" rIns="0" bIns="0" rtlCol="0" anchor="ctr"/>
          <a:lstStyle/>
          <a:p>
            <a:pPr algn="ctr" indent="0" marL="0">
              <a:buNone/>
            </a:pPr>
            <a:r>
              <a:rPr lang="en-US" sz="850" b="1" dirty="0">
                <a:solidFill>
                  <a:srgbClr val="0D1B2A"/>
                </a:solidFill>
              </a:rPr>
              <a:t>METHODOLOGY OVERVIEW</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Dual-Encoder Supervised Fine-Tuning Paradigm</a:t>
            </a:r>
            <a:endParaRPr lang="en-US" sz="2600" dirty="0"/>
          </a:p>
        </p:txBody>
      </p:sp>
      <p:sp>
        <p:nvSpPr>
          <p:cNvPr id="7" name="Shape 5"/>
          <p:cNvSpPr/>
          <p:nvPr/>
        </p:nvSpPr>
        <p:spPr>
          <a:xfrm>
            <a:off x="292608" y="1389888"/>
            <a:ext cx="1078992" cy="1051560"/>
          </a:xfrm>
          <a:prstGeom prst="rect">
            <a:avLst/>
          </a:prstGeom>
          <a:solidFill>
            <a:srgbClr val="0D1B2A"/>
          </a:solidFill>
          <a:ln/>
          <a:effectLst>
            <a:outerShdw sx="100000" sy="100000" kx="0" ky="0" algn="bl" rotWithShape="0" blurRad="101600" dist="38100" dir="8100000">
              <a:srgbClr val="000000">
                <a:alpha val="12000"/>
              </a:srgbClr>
            </a:outerShdw>
          </a:effectLst>
        </p:spPr>
      </p:sp>
      <p:sp>
        <p:nvSpPr>
          <p:cNvPr id="8" name="Text 6"/>
          <p:cNvSpPr/>
          <p:nvPr/>
        </p:nvSpPr>
        <p:spPr>
          <a:xfrm>
            <a:off x="292608" y="1499616"/>
            <a:ext cx="1078992" cy="347472"/>
          </a:xfrm>
          <a:prstGeom prst="rect">
            <a:avLst/>
          </a:prstGeom>
          <a:noFill/>
          <a:ln/>
        </p:spPr>
        <p:txBody>
          <a:bodyPr wrap="square" lIns="0" tIns="0" rIns="0" bIns="0" rtlCol="0" anchor="ctr"/>
          <a:lstStyle/>
          <a:p>
            <a:pPr algn="ctr" indent="0" marL="0">
              <a:buNone/>
            </a:pPr>
            <a:r>
              <a:rPr lang="en-US" sz="1050" b="1" dirty="0">
                <a:solidFill>
                  <a:srgbClr val="FFFFFF"/>
                </a:solidFill>
              </a:rPr>
              <a:t>MRI Input</a:t>
            </a:r>
            <a:endParaRPr lang="en-US" sz="1050" dirty="0"/>
          </a:p>
        </p:txBody>
      </p:sp>
      <p:sp>
        <p:nvSpPr>
          <p:cNvPr id="9" name="Text 7"/>
          <p:cNvSpPr/>
          <p:nvPr/>
        </p:nvSpPr>
        <p:spPr>
          <a:xfrm>
            <a:off x="292608" y="1865376"/>
            <a:ext cx="1078992" cy="512064"/>
          </a:xfrm>
          <a:prstGeom prst="rect">
            <a:avLst/>
          </a:prstGeom>
          <a:noFill/>
          <a:ln/>
        </p:spPr>
        <p:txBody>
          <a:bodyPr wrap="square" lIns="0" tIns="0" rIns="0" bIns="0" rtlCol="0" anchor="ctr"/>
          <a:lstStyle/>
          <a:p>
            <a:pPr algn="ctr" indent="0" marL="0">
              <a:lnSpc>
                <a:spcPct val="110000"/>
              </a:lnSpc>
              <a:buNone/>
            </a:pPr>
            <a:r>
              <a:rPr lang="en-US" sz="850" dirty="0">
                <a:solidFill>
                  <a:srgbClr val="FFFFFF"/>
                </a:solidFill>
              </a:rPr>
              <a:t>7,023 Axial T1</a:t>
            </a:r>
            <a:endParaRPr lang="en-US" sz="850" dirty="0"/>
          </a:p>
          <a:p>
            <a:pPr algn="ctr" indent="0" marL="0">
              <a:lnSpc>
                <a:spcPct val="110000"/>
              </a:lnSpc>
              <a:buNone/>
            </a:pPr>
            <a:r>
              <a:rPr lang="en-US" sz="850" dirty="0">
                <a:solidFill>
                  <a:srgbClr val="FFFFFF"/>
                </a:solidFill>
              </a:rPr>
              <a:t>Scans (4 classes)</a:t>
            </a:r>
            <a:endParaRPr lang="en-US" sz="850" dirty="0"/>
          </a:p>
        </p:txBody>
      </p:sp>
      <p:sp>
        <p:nvSpPr>
          <p:cNvPr id="10" name="Shape 8"/>
          <p:cNvSpPr/>
          <p:nvPr/>
        </p:nvSpPr>
        <p:spPr>
          <a:xfrm>
            <a:off x="1371600" y="1879092"/>
            <a:ext cx="164592" cy="73152"/>
          </a:xfrm>
          <a:prstGeom prst="rect">
            <a:avLst/>
          </a:prstGeom>
          <a:solidFill>
            <a:srgbClr val="2EC4B6"/>
          </a:solidFill>
          <a:ln/>
        </p:spPr>
      </p:sp>
      <p:sp>
        <p:nvSpPr>
          <p:cNvPr id="11" name="Shape 9"/>
          <p:cNvSpPr/>
          <p:nvPr/>
        </p:nvSpPr>
        <p:spPr>
          <a:xfrm>
            <a:off x="1536192" y="1389888"/>
            <a:ext cx="1078992" cy="1051560"/>
          </a:xfrm>
          <a:prstGeom prst="rect">
            <a:avLst/>
          </a:prstGeom>
          <a:solidFill>
            <a:srgbClr val="1A6B72"/>
          </a:solidFill>
          <a:ln/>
          <a:effectLst>
            <a:outerShdw sx="100000" sy="100000" kx="0" ky="0" algn="bl" rotWithShape="0" blurRad="101600" dist="38100" dir="8100000">
              <a:srgbClr val="000000">
                <a:alpha val="12000"/>
              </a:srgbClr>
            </a:outerShdw>
          </a:effectLst>
        </p:spPr>
      </p:sp>
      <p:sp>
        <p:nvSpPr>
          <p:cNvPr id="12" name="Text 10"/>
          <p:cNvSpPr/>
          <p:nvPr/>
        </p:nvSpPr>
        <p:spPr>
          <a:xfrm>
            <a:off x="1536192" y="1499616"/>
            <a:ext cx="1078992" cy="347472"/>
          </a:xfrm>
          <a:prstGeom prst="rect">
            <a:avLst/>
          </a:prstGeom>
          <a:noFill/>
          <a:ln/>
        </p:spPr>
        <p:txBody>
          <a:bodyPr wrap="square" lIns="0" tIns="0" rIns="0" bIns="0" rtlCol="0" anchor="ctr"/>
          <a:lstStyle/>
          <a:p>
            <a:pPr algn="ctr" indent="0" marL="0">
              <a:buNone/>
            </a:pPr>
            <a:r>
              <a:rPr lang="en-US" sz="1050" b="1" dirty="0">
                <a:solidFill>
                  <a:srgbClr val="FFFFFF"/>
                </a:solidFill>
              </a:rPr>
              <a:t>Preprocessing</a:t>
            </a:r>
            <a:endParaRPr lang="en-US" sz="1050" dirty="0"/>
          </a:p>
        </p:txBody>
      </p:sp>
      <p:sp>
        <p:nvSpPr>
          <p:cNvPr id="13" name="Text 11"/>
          <p:cNvSpPr/>
          <p:nvPr/>
        </p:nvSpPr>
        <p:spPr>
          <a:xfrm>
            <a:off x="1536192" y="1865376"/>
            <a:ext cx="1078992" cy="512064"/>
          </a:xfrm>
          <a:prstGeom prst="rect">
            <a:avLst/>
          </a:prstGeom>
          <a:noFill/>
          <a:ln/>
        </p:spPr>
        <p:txBody>
          <a:bodyPr wrap="square" lIns="0" tIns="0" rIns="0" bIns="0" rtlCol="0" anchor="ctr"/>
          <a:lstStyle/>
          <a:p>
            <a:pPr algn="ctr" indent="0" marL="0">
              <a:lnSpc>
                <a:spcPct val="110000"/>
              </a:lnSpc>
              <a:buNone/>
            </a:pPr>
            <a:r>
              <a:rPr lang="en-US" sz="850" dirty="0">
                <a:solidFill>
                  <a:srgbClr val="FFFFFF"/>
                </a:solidFill>
              </a:rPr>
              <a:t>Resize · Norm</a:t>
            </a:r>
            <a:endParaRPr lang="en-US" sz="850" dirty="0"/>
          </a:p>
          <a:p>
            <a:pPr algn="ctr" indent="0" marL="0">
              <a:lnSpc>
                <a:spcPct val="110000"/>
              </a:lnSpc>
              <a:buNone/>
            </a:pPr>
            <a:r>
              <a:rPr lang="en-US" sz="850" dirty="0">
                <a:solidFill>
                  <a:srgbClr val="FFFFFF"/>
                </a:solidFill>
              </a:rPr>
              <a:t>Augmentation</a:t>
            </a:r>
            <a:endParaRPr lang="en-US" sz="850" dirty="0"/>
          </a:p>
        </p:txBody>
      </p:sp>
      <p:sp>
        <p:nvSpPr>
          <p:cNvPr id="14" name="Shape 12"/>
          <p:cNvSpPr/>
          <p:nvPr/>
        </p:nvSpPr>
        <p:spPr>
          <a:xfrm>
            <a:off x="2615184" y="1879092"/>
            <a:ext cx="164592" cy="73152"/>
          </a:xfrm>
          <a:prstGeom prst="rect">
            <a:avLst/>
          </a:prstGeom>
          <a:solidFill>
            <a:srgbClr val="2EC4B6"/>
          </a:solidFill>
          <a:ln/>
        </p:spPr>
      </p:sp>
      <p:sp>
        <p:nvSpPr>
          <p:cNvPr id="15" name="Shape 13"/>
          <p:cNvSpPr/>
          <p:nvPr/>
        </p:nvSpPr>
        <p:spPr>
          <a:xfrm>
            <a:off x="2779776" y="1389888"/>
            <a:ext cx="1078992" cy="1051560"/>
          </a:xfrm>
          <a:prstGeom prst="rect">
            <a:avLst/>
          </a:prstGeom>
          <a:solidFill>
            <a:srgbClr val="1A6B72"/>
          </a:solidFill>
          <a:ln/>
          <a:effectLst>
            <a:outerShdw sx="100000" sy="100000" kx="0" ky="0" algn="bl" rotWithShape="0" blurRad="101600" dist="38100" dir="8100000">
              <a:srgbClr val="000000">
                <a:alpha val="12000"/>
              </a:srgbClr>
            </a:outerShdw>
          </a:effectLst>
        </p:spPr>
      </p:sp>
      <p:sp>
        <p:nvSpPr>
          <p:cNvPr id="16" name="Text 14"/>
          <p:cNvSpPr/>
          <p:nvPr/>
        </p:nvSpPr>
        <p:spPr>
          <a:xfrm>
            <a:off x="2779776" y="1499616"/>
            <a:ext cx="1078992" cy="347472"/>
          </a:xfrm>
          <a:prstGeom prst="rect">
            <a:avLst/>
          </a:prstGeom>
          <a:noFill/>
          <a:ln/>
        </p:spPr>
        <p:txBody>
          <a:bodyPr wrap="square" lIns="0" tIns="0" rIns="0" bIns="0" rtlCol="0" anchor="ctr"/>
          <a:lstStyle/>
          <a:p>
            <a:pPr algn="ctr" indent="0" marL="0">
              <a:buNone/>
            </a:pPr>
            <a:r>
              <a:rPr lang="en-US" sz="1050" b="1" dirty="0">
                <a:solidFill>
                  <a:srgbClr val="FFFFFF"/>
                </a:solidFill>
              </a:rPr>
              <a:t>Vision Encoder</a:t>
            </a:r>
            <a:endParaRPr lang="en-US" sz="1050" dirty="0"/>
          </a:p>
        </p:txBody>
      </p:sp>
      <p:sp>
        <p:nvSpPr>
          <p:cNvPr id="17" name="Text 15"/>
          <p:cNvSpPr/>
          <p:nvPr/>
        </p:nvSpPr>
        <p:spPr>
          <a:xfrm>
            <a:off x="2779776" y="1865376"/>
            <a:ext cx="1078992" cy="512064"/>
          </a:xfrm>
          <a:prstGeom prst="rect">
            <a:avLst/>
          </a:prstGeom>
          <a:noFill/>
          <a:ln/>
        </p:spPr>
        <p:txBody>
          <a:bodyPr wrap="square" lIns="0" tIns="0" rIns="0" bIns="0" rtlCol="0" anchor="ctr"/>
          <a:lstStyle/>
          <a:p>
            <a:pPr algn="ctr" indent="0" marL="0">
              <a:lnSpc>
                <a:spcPct val="110000"/>
              </a:lnSpc>
              <a:buNone/>
            </a:pPr>
            <a:r>
              <a:rPr lang="en-US" sz="850" dirty="0">
                <a:solidFill>
                  <a:srgbClr val="FFFFFF"/>
                </a:solidFill>
              </a:rPr>
              <a:t>ViT-based</a:t>
            </a:r>
            <a:endParaRPr lang="en-US" sz="850" dirty="0"/>
          </a:p>
          <a:p>
            <a:pPr algn="ctr" indent="0" marL="0">
              <a:lnSpc>
                <a:spcPct val="110000"/>
              </a:lnSpc>
              <a:buNone/>
            </a:pPr>
            <a:r>
              <a:rPr lang="en-US" sz="850" dirty="0">
                <a:solidFill>
                  <a:srgbClr val="FFFFFF"/>
                </a:solidFill>
              </a:rPr>
              <a:t>(Last 2 layers unfrozen)</a:t>
            </a:r>
            <a:endParaRPr lang="en-US" sz="850" dirty="0"/>
          </a:p>
        </p:txBody>
      </p:sp>
      <p:sp>
        <p:nvSpPr>
          <p:cNvPr id="18" name="Shape 16"/>
          <p:cNvSpPr/>
          <p:nvPr/>
        </p:nvSpPr>
        <p:spPr>
          <a:xfrm>
            <a:off x="3858768" y="1879092"/>
            <a:ext cx="164592" cy="73152"/>
          </a:xfrm>
          <a:prstGeom prst="rect">
            <a:avLst/>
          </a:prstGeom>
          <a:solidFill>
            <a:srgbClr val="2EC4B6"/>
          </a:solidFill>
          <a:ln/>
        </p:spPr>
      </p:sp>
      <p:sp>
        <p:nvSpPr>
          <p:cNvPr id="19" name="Shape 17"/>
          <p:cNvSpPr/>
          <p:nvPr/>
        </p:nvSpPr>
        <p:spPr>
          <a:xfrm>
            <a:off x="4023360" y="1389888"/>
            <a:ext cx="1078992" cy="1051560"/>
          </a:xfrm>
          <a:prstGeom prst="rect">
            <a:avLst/>
          </a:prstGeom>
          <a:solidFill>
            <a:srgbClr val="7FA8B8"/>
          </a:solidFill>
          <a:ln/>
          <a:effectLst>
            <a:outerShdw sx="100000" sy="100000" kx="0" ky="0" algn="bl" rotWithShape="0" blurRad="101600" dist="38100" dir="8100000">
              <a:srgbClr val="000000">
                <a:alpha val="12000"/>
              </a:srgbClr>
            </a:outerShdw>
          </a:effectLst>
        </p:spPr>
      </p:sp>
      <p:sp>
        <p:nvSpPr>
          <p:cNvPr id="20" name="Text 18"/>
          <p:cNvSpPr/>
          <p:nvPr/>
        </p:nvSpPr>
        <p:spPr>
          <a:xfrm>
            <a:off x="4023360" y="1499616"/>
            <a:ext cx="1078992" cy="347472"/>
          </a:xfrm>
          <a:prstGeom prst="rect">
            <a:avLst/>
          </a:prstGeom>
          <a:noFill/>
          <a:ln/>
        </p:spPr>
        <p:txBody>
          <a:bodyPr wrap="square" lIns="0" tIns="0" rIns="0" bIns="0" rtlCol="0" anchor="ctr"/>
          <a:lstStyle/>
          <a:p>
            <a:pPr algn="ctr" indent="0" marL="0">
              <a:buNone/>
            </a:pPr>
            <a:r>
              <a:rPr lang="en-US" sz="1050" b="1" dirty="0">
                <a:solidFill>
                  <a:srgbClr val="FFFFFF"/>
                </a:solidFill>
              </a:rPr>
              <a:t>Text Encoder</a:t>
            </a:r>
            <a:endParaRPr lang="en-US" sz="1050" dirty="0"/>
          </a:p>
        </p:txBody>
      </p:sp>
      <p:sp>
        <p:nvSpPr>
          <p:cNvPr id="21" name="Text 19"/>
          <p:cNvSpPr/>
          <p:nvPr/>
        </p:nvSpPr>
        <p:spPr>
          <a:xfrm>
            <a:off x="4023360" y="1865376"/>
            <a:ext cx="1078992" cy="512064"/>
          </a:xfrm>
          <a:prstGeom prst="rect">
            <a:avLst/>
          </a:prstGeom>
          <a:noFill/>
          <a:ln/>
        </p:spPr>
        <p:txBody>
          <a:bodyPr wrap="square" lIns="0" tIns="0" rIns="0" bIns="0" rtlCol="0" anchor="ctr"/>
          <a:lstStyle/>
          <a:p>
            <a:pPr algn="ctr" indent="0" marL="0">
              <a:lnSpc>
                <a:spcPct val="110000"/>
              </a:lnSpc>
              <a:buNone/>
            </a:pPr>
            <a:r>
              <a:rPr lang="en-US" sz="850" dirty="0">
                <a:solidFill>
                  <a:srgbClr val="FFFFFF"/>
                </a:solidFill>
              </a:rPr>
              <a:t>Class-label prompts</a:t>
            </a:r>
            <a:endParaRPr lang="en-US" sz="850" dirty="0"/>
          </a:p>
          <a:p>
            <a:pPr algn="ctr" indent="0" marL="0">
              <a:lnSpc>
                <a:spcPct val="110000"/>
              </a:lnSpc>
              <a:buNone/>
            </a:pPr>
            <a:r>
              <a:rPr lang="en-US" sz="850" dirty="0">
                <a:solidFill>
                  <a:srgbClr val="FFFFFF"/>
                </a:solidFill>
              </a:rPr>
              <a:t>(FROZEN)</a:t>
            </a:r>
            <a:endParaRPr lang="en-US" sz="850" dirty="0"/>
          </a:p>
        </p:txBody>
      </p:sp>
      <p:sp>
        <p:nvSpPr>
          <p:cNvPr id="22" name="Shape 20"/>
          <p:cNvSpPr/>
          <p:nvPr/>
        </p:nvSpPr>
        <p:spPr>
          <a:xfrm>
            <a:off x="5102352" y="1879092"/>
            <a:ext cx="164592" cy="73152"/>
          </a:xfrm>
          <a:prstGeom prst="rect">
            <a:avLst/>
          </a:prstGeom>
          <a:solidFill>
            <a:srgbClr val="2EC4B6"/>
          </a:solidFill>
          <a:ln/>
        </p:spPr>
      </p:sp>
      <p:sp>
        <p:nvSpPr>
          <p:cNvPr id="23" name="Shape 21"/>
          <p:cNvSpPr/>
          <p:nvPr/>
        </p:nvSpPr>
        <p:spPr>
          <a:xfrm>
            <a:off x="5266944" y="1389888"/>
            <a:ext cx="1078992" cy="1051560"/>
          </a:xfrm>
          <a:prstGeom prst="rect">
            <a:avLst/>
          </a:prstGeom>
          <a:solidFill>
            <a:srgbClr val="2EC4B6"/>
          </a:solidFill>
          <a:ln/>
          <a:effectLst>
            <a:outerShdw sx="100000" sy="100000" kx="0" ky="0" algn="bl" rotWithShape="0" blurRad="101600" dist="38100" dir="8100000">
              <a:srgbClr val="000000">
                <a:alpha val="12000"/>
              </a:srgbClr>
            </a:outerShdw>
          </a:effectLst>
        </p:spPr>
      </p:sp>
      <p:sp>
        <p:nvSpPr>
          <p:cNvPr id="24" name="Text 22"/>
          <p:cNvSpPr/>
          <p:nvPr/>
        </p:nvSpPr>
        <p:spPr>
          <a:xfrm>
            <a:off x="5266944" y="1499616"/>
            <a:ext cx="1078992" cy="347472"/>
          </a:xfrm>
          <a:prstGeom prst="rect">
            <a:avLst/>
          </a:prstGeom>
          <a:noFill/>
          <a:ln/>
        </p:spPr>
        <p:txBody>
          <a:bodyPr wrap="square" lIns="0" tIns="0" rIns="0" bIns="0" rtlCol="0" anchor="ctr"/>
          <a:lstStyle/>
          <a:p>
            <a:pPr algn="ctr" indent="0" marL="0">
              <a:buNone/>
            </a:pPr>
            <a:r>
              <a:rPr lang="en-US" sz="1050" b="1" dirty="0">
                <a:solidFill>
                  <a:srgbClr val="FFFFFF"/>
                </a:solidFill>
              </a:rPr>
              <a:t>Fusion Block</a:t>
            </a:r>
            <a:endParaRPr lang="en-US" sz="1050" dirty="0"/>
          </a:p>
        </p:txBody>
      </p:sp>
      <p:sp>
        <p:nvSpPr>
          <p:cNvPr id="25" name="Text 23"/>
          <p:cNvSpPr/>
          <p:nvPr/>
        </p:nvSpPr>
        <p:spPr>
          <a:xfrm>
            <a:off x="5266944" y="1865376"/>
            <a:ext cx="1078992" cy="512064"/>
          </a:xfrm>
          <a:prstGeom prst="rect">
            <a:avLst/>
          </a:prstGeom>
          <a:noFill/>
          <a:ln/>
        </p:spPr>
        <p:txBody>
          <a:bodyPr wrap="square" lIns="0" tIns="0" rIns="0" bIns="0" rtlCol="0" anchor="ctr"/>
          <a:lstStyle/>
          <a:p>
            <a:pPr algn="ctr" indent="0" marL="0">
              <a:lnSpc>
                <a:spcPct val="110000"/>
              </a:lnSpc>
              <a:buNone/>
            </a:pPr>
            <a:r>
              <a:rPr lang="en-US" sz="850" dirty="0">
                <a:solidFill>
                  <a:srgbClr val="FFFFFF"/>
                </a:solidFill>
              </a:rPr>
              <a:t>Cosine Sim / Cross-Attention</a:t>
            </a:r>
            <a:endParaRPr lang="en-US" sz="850" dirty="0"/>
          </a:p>
        </p:txBody>
      </p:sp>
      <p:sp>
        <p:nvSpPr>
          <p:cNvPr id="26" name="Shape 24"/>
          <p:cNvSpPr/>
          <p:nvPr/>
        </p:nvSpPr>
        <p:spPr>
          <a:xfrm>
            <a:off x="6345936" y="1879092"/>
            <a:ext cx="164592" cy="73152"/>
          </a:xfrm>
          <a:prstGeom prst="rect">
            <a:avLst/>
          </a:prstGeom>
          <a:solidFill>
            <a:srgbClr val="2EC4B6"/>
          </a:solidFill>
          <a:ln/>
        </p:spPr>
      </p:sp>
      <p:sp>
        <p:nvSpPr>
          <p:cNvPr id="27" name="Shape 25"/>
          <p:cNvSpPr/>
          <p:nvPr/>
        </p:nvSpPr>
        <p:spPr>
          <a:xfrm>
            <a:off x="6510528" y="1389888"/>
            <a:ext cx="1078992" cy="1051560"/>
          </a:xfrm>
          <a:prstGeom prst="rect">
            <a:avLst/>
          </a:prstGeom>
          <a:solidFill>
            <a:srgbClr val="E07B39"/>
          </a:solidFill>
          <a:ln/>
          <a:effectLst>
            <a:outerShdw sx="100000" sy="100000" kx="0" ky="0" algn="bl" rotWithShape="0" blurRad="101600" dist="38100" dir="8100000">
              <a:srgbClr val="000000">
                <a:alpha val="12000"/>
              </a:srgbClr>
            </a:outerShdw>
          </a:effectLst>
        </p:spPr>
      </p:sp>
      <p:sp>
        <p:nvSpPr>
          <p:cNvPr id="28" name="Text 26"/>
          <p:cNvSpPr/>
          <p:nvPr/>
        </p:nvSpPr>
        <p:spPr>
          <a:xfrm>
            <a:off x="6510528" y="1499616"/>
            <a:ext cx="1078992" cy="347472"/>
          </a:xfrm>
          <a:prstGeom prst="rect">
            <a:avLst/>
          </a:prstGeom>
          <a:noFill/>
          <a:ln/>
        </p:spPr>
        <p:txBody>
          <a:bodyPr wrap="square" lIns="0" tIns="0" rIns="0" bIns="0" rtlCol="0" anchor="ctr"/>
          <a:lstStyle/>
          <a:p>
            <a:pPr algn="ctr" indent="0" marL="0">
              <a:buNone/>
            </a:pPr>
            <a:r>
              <a:rPr lang="en-US" sz="1050" b="1" dirty="0">
                <a:solidFill>
                  <a:srgbClr val="FFFFFF"/>
                </a:solidFill>
              </a:rPr>
              <a:t>Classification</a:t>
            </a:r>
            <a:endParaRPr lang="en-US" sz="1050" dirty="0"/>
          </a:p>
          <a:p>
            <a:pPr algn="ctr" indent="0" marL="0">
              <a:buNone/>
            </a:pPr>
            <a:r>
              <a:rPr lang="en-US" sz="1050" b="1" dirty="0">
                <a:solidFill>
                  <a:srgbClr val="FFFFFF"/>
                </a:solidFill>
              </a:rPr>
              <a:t>Head</a:t>
            </a:r>
            <a:endParaRPr lang="en-US" sz="1050" dirty="0"/>
          </a:p>
        </p:txBody>
      </p:sp>
      <p:sp>
        <p:nvSpPr>
          <p:cNvPr id="29" name="Text 27"/>
          <p:cNvSpPr/>
          <p:nvPr/>
        </p:nvSpPr>
        <p:spPr>
          <a:xfrm>
            <a:off x="6510528" y="1865376"/>
            <a:ext cx="1078992" cy="512064"/>
          </a:xfrm>
          <a:prstGeom prst="rect">
            <a:avLst/>
          </a:prstGeom>
          <a:noFill/>
          <a:ln/>
        </p:spPr>
        <p:txBody>
          <a:bodyPr wrap="square" lIns="0" tIns="0" rIns="0" bIns="0" rtlCol="0" anchor="ctr"/>
          <a:lstStyle/>
          <a:p>
            <a:pPr algn="ctr" indent="0" marL="0">
              <a:lnSpc>
                <a:spcPct val="110000"/>
              </a:lnSpc>
              <a:buNone/>
            </a:pPr>
            <a:r>
              <a:rPr lang="en-US" sz="850" dirty="0">
                <a:solidFill>
                  <a:srgbClr val="FFFFFF"/>
                </a:solidFill>
              </a:rPr>
              <a:t>768→512→4</a:t>
            </a:r>
            <a:endParaRPr lang="en-US" sz="850" dirty="0"/>
          </a:p>
          <a:p>
            <a:pPr algn="ctr" indent="0" marL="0">
              <a:lnSpc>
                <a:spcPct val="110000"/>
              </a:lnSpc>
              <a:buNone/>
            </a:pPr>
            <a:r>
              <a:rPr lang="en-US" sz="850" dirty="0">
                <a:solidFill>
                  <a:srgbClr val="FFFFFF"/>
                </a:solidFill>
              </a:rPr>
              <a:t>BatchNorm+ReLU</a:t>
            </a:r>
            <a:endParaRPr lang="en-US" sz="850" dirty="0"/>
          </a:p>
        </p:txBody>
      </p:sp>
      <p:sp>
        <p:nvSpPr>
          <p:cNvPr id="30" name="Shape 28"/>
          <p:cNvSpPr/>
          <p:nvPr/>
        </p:nvSpPr>
        <p:spPr>
          <a:xfrm>
            <a:off x="7589520" y="1879092"/>
            <a:ext cx="164592" cy="73152"/>
          </a:xfrm>
          <a:prstGeom prst="rect">
            <a:avLst/>
          </a:prstGeom>
          <a:solidFill>
            <a:srgbClr val="2EC4B6"/>
          </a:solidFill>
          <a:ln/>
        </p:spPr>
      </p:sp>
      <p:sp>
        <p:nvSpPr>
          <p:cNvPr id="31" name="Shape 29"/>
          <p:cNvSpPr/>
          <p:nvPr/>
        </p:nvSpPr>
        <p:spPr>
          <a:xfrm>
            <a:off x="7754112" y="1389888"/>
            <a:ext cx="1078992" cy="1051560"/>
          </a:xfrm>
          <a:prstGeom prst="rect">
            <a:avLst/>
          </a:prstGeom>
          <a:solidFill>
            <a:srgbClr val="27A85F"/>
          </a:solidFill>
          <a:ln/>
          <a:effectLst>
            <a:outerShdw sx="100000" sy="100000" kx="0" ky="0" algn="bl" rotWithShape="0" blurRad="101600" dist="38100" dir="8100000">
              <a:srgbClr val="000000">
                <a:alpha val="12000"/>
              </a:srgbClr>
            </a:outerShdw>
          </a:effectLst>
        </p:spPr>
      </p:sp>
      <p:sp>
        <p:nvSpPr>
          <p:cNvPr id="32" name="Text 30"/>
          <p:cNvSpPr/>
          <p:nvPr/>
        </p:nvSpPr>
        <p:spPr>
          <a:xfrm>
            <a:off x="7754112" y="1499616"/>
            <a:ext cx="1078992" cy="347472"/>
          </a:xfrm>
          <a:prstGeom prst="rect">
            <a:avLst/>
          </a:prstGeom>
          <a:noFill/>
          <a:ln/>
        </p:spPr>
        <p:txBody>
          <a:bodyPr wrap="square" lIns="0" tIns="0" rIns="0" bIns="0" rtlCol="0" anchor="ctr"/>
          <a:lstStyle/>
          <a:p>
            <a:pPr algn="ctr" indent="0" marL="0">
              <a:buNone/>
            </a:pPr>
            <a:r>
              <a:rPr lang="en-US" sz="1050" b="1" dirty="0">
                <a:solidFill>
                  <a:srgbClr val="FFFFFF"/>
                </a:solidFill>
              </a:rPr>
              <a:t>Prediction</a:t>
            </a:r>
            <a:endParaRPr lang="en-US" sz="1050" dirty="0"/>
          </a:p>
        </p:txBody>
      </p:sp>
      <p:sp>
        <p:nvSpPr>
          <p:cNvPr id="33" name="Text 31"/>
          <p:cNvSpPr/>
          <p:nvPr/>
        </p:nvSpPr>
        <p:spPr>
          <a:xfrm>
            <a:off x="7754112" y="1865376"/>
            <a:ext cx="1078992" cy="512064"/>
          </a:xfrm>
          <a:prstGeom prst="rect">
            <a:avLst/>
          </a:prstGeom>
          <a:noFill/>
          <a:ln/>
        </p:spPr>
        <p:txBody>
          <a:bodyPr wrap="square" lIns="0" tIns="0" rIns="0" bIns="0" rtlCol="0" anchor="ctr"/>
          <a:lstStyle/>
          <a:p>
            <a:pPr algn="ctr" indent="0" marL="0">
              <a:lnSpc>
                <a:spcPct val="110000"/>
              </a:lnSpc>
              <a:buNone/>
            </a:pPr>
            <a:r>
              <a:rPr lang="en-US" sz="850" dirty="0">
                <a:solidFill>
                  <a:srgbClr val="FFFFFF"/>
                </a:solidFill>
              </a:rPr>
              <a:t>Glioma / Meningioma</a:t>
            </a:r>
            <a:endParaRPr lang="en-US" sz="850" dirty="0"/>
          </a:p>
          <a:p>
            <a:pPr algn="ctr" indent="0" marL="0">
              <a:lnSpc>
                <a:spcPct val="110000"/>
              </a:lnSpc>
              <a:buNone/>
            </a:pPr>
            <a:r>
              <a:rPr lang="en-US" sz="850" dirty="0">
                <a:solidFill>
                  <a:srgbClr val="FFFFFF"/>
                </a:solidFill>
              </a:rPr>
              <a:t>Pituitary / None</a:t>
            </a:r>
            <a:endParaRPr lang="en-US" sz="850" dirty="0"/>
          </a:p>
        </p:txBody>
      </p:sp>
      <p:sp>
        <p:nvSpPr>
          <p:cNvPr id="34" name="Text 32"/>
          <p:cNvSpPr/>
          <p:nvPr/>
        </p:nvSpPr>
        <p:spPr>
          <a:xfrm>
            <a:off x="457200" y="2606040"/>
            <a:ext cx="8229600" cy="2468880"/>
          </a:xfrm>
          <a:prstGeom prst="rect">
            <a:avLst/>
          </a:prstGeom>
          <a:noFill/>
          <a:ln/>
        </p:spPr>
        <p:txBody>
          <a:bodyPr wrap="square" rtlCol="0" anchor="ctr"/>
          <a:lstStyle/>
          <a:p>
            <a:pPr marL="342900" indent="-342900">
              <a:spcAft>
                <a:spcPts val="1000"/>
              </a:spcAft>
              <a:buSzPct val="100000"/>
              <a:buChar char="•"/>
            </a:pPr>
            <a:r>
              <a:rPr lang="en-US" sz="1250" dirty="0">
                <a:solidFill>
                  <a:srgbClr val="1C2E3A"/>
                </a:solidFill>
                <a:latin typeface="Calibri" pitchFamily="34" charset="0"/>
                <a:ea typeface="Calibri" pitchFamily="34" charset="-122"/>
                <a:cs typeface="Calibri" pitchFamily="34" charset="-120"/>
              </a:rPr>
              <a:t>Both CLIP and BLIP share the same supervised fine-tuning paradigm: vision encoder last-2 layers unfrozen, text encoder fully frozen, classification head trained end-to-end.</a:t>
            </a:r>
            <a:endParaRPr lang="en-US" sz="1250" dirty="0"/>
          </a:p>
          <a:p>
            <a:pPr marL="342900" indent="-342900">
              <a:spcAft>
                <a:spcPts val="1000"/>
              </a:spcAft>
              <a:buSzPct val="100000"/>
              <a:buChar char="•"/>
            </a:pPr>
            <a:r>
              <a:rPr lang="en-US" sz="1250" dirty="0">
                <a:solidFill>
                  <a:srgbClr val="1C2E3A"/>
                </a:solidFill>
                <a:latin typeface="Calibri" pitchFamily="34" charset="0"/>
                <a:ea typeface="Calibri" pitchFamily="34" charset="-122"/>
                <a:cs typeface="Calibri" pitchFamily="34" charset="-120"/>
              </a:rPr>
              <a:t>Dual-encoder fusion aligns visual embeddings with class-label text embeddings in a shared latent space using cosine similarity (CLIP) or cross-attention (BLIP).</a:t>
            </a:r>
            <a:endParaRPr lang="en-US" sz="1250" dirty="0"/>
          </a:p>
          <a:p>
            <a:pPr marL="342900" indent="-342900">
              <a:spcAft>
                <a:spcPts val="1000"/>
              </a:spcAft>
              <a:buSzPct val="100000"/>
              <a:buChar char="•"/>
            </a:pPr>
            <a:r>
              <a:rPr lang="en-US" sz="1250" dirty="0">
                <a:solidFill>
                  <a:srgbClr val="1C2E3A"/>
                </a:solidFill>
                <a:latin typeface="Calibri" pitchFamily="34" charset="0"/>
                <a:ea typeface="Calibri" pitchFamily="34" charset="-122"/>
                <a:cs typeface="Calibri" pitchFamily="34" charset="-120"/>
              </a:rPr>
              <a:t>Contrastive loss pulls similar image-text pairs together while pushing dissimilar pairs apart, reinforcing tumour-specific semantic associations.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A6B72"/>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7 / 17</a:t>
            </a:r>
            <a:endParaRPr lang="en-US" sz="900" dirty="0"/>
          </a:p>
        </p:txBody>
      </p:sp>
      <p:sp>
        <p:nvSpPr>
          <p:cNvPr id="4" name="Shape 2"/>
          <p:cNvSpPr/>
          <p:nvPr/>
        </p:nvSpPr>
        <p:spPr>
          <a:xfrm>
            <a:off x="457200" y="201168"/>
            <a:ext cx="2167128" cy="256032"/>
          </a:xfrm>
          <a:prstGeom prst="rect">
            <a:avLst/>
          </a:prstGeom>
          <a:solidFill>
            <a:srgbClr val="2EC4B6"/>
          </a:solidFill>
          <a:ln/>
        </p:spPr>
      </p:sp>
      <p:sp>
        <p:nvSpPr>
          <p:cNvPr id="5" name="Text 3"/>
          <p:cNvSpPr/>
          <p:nvPr/>
        </p:nvSpPr>
        <p:spPr>
          <a:xfrm>
            <a:off x="457200" y="201168"/>
            <a:ext cx="2167128" cy="256032"/>
          </a:xfrm>
          <a:prstGeom prst="rect">
            <a:avLst/>
          </a:prstGeom>
          <a:noFill/>
          <a:ln/>
        </p:spPr>
        <p:txBody>
          <a:bodyPr wrap="square" lIns="0" tIns="0" rIns="0" bIns="0" rtlCol="0" anchor="ctr"/>
          <a:lstStyle/>
          <a:p>
            <a:pPr algn="ctr" indent="0" marL="0">
              <a:buNone/>
            </a:pPr>
            <a:r>
              <a:rPr lang="en-US" sz="850" b="1" dirty="0">
                <a:solidFill>
                  <a:srgbClr val="0D1B2A"/>
                </a:solidFill>
              </a:rPr>
              <a:t>MODEL ARCHITECTURE</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CLIP: Contrastive Language-Image Pretraining</a:t>
            </a:r>
            <a:endParaRPr lang="en-US" sz="2600" dirty="0"/>
          </a:p>
        </p:txBody>
      </p:sp>
      <p:sp>
        <p:nvSpPr>
          <p:cNvPr id="7" name="Text 5"/>
          <p:cNvSpPr/>
          <p:nvPr/>
        </p:nvSpPr>
        <p:spPr>
          <a:xfrm>
            <a:off x="457200" y="1298448"/>
            <a:ext cx="5212080" cy="3566160"/>
          </a:xfrm>
          <a:prstGeom prst="rect">
            <a:avLst/>
          </a:prstGeom>
          <a:noFill/>
          <a:ln/>
        </p:spPr>
        <p:txBody>
          <a:bodyPr wrap="square" rtlCol="0" anchor="ctr"/>
          <a:lstStyle/>
          <a:p>
            <a:pPr marL="342900" indent="-342900">
              <a:spcAft>
                <a:spcPts val="1000"/>
              </a:spcAft>
              <a:buSzPct val="100000"/>
              <a:buChar char="•"/>
            </a:pPr>
            <a:r>
              <a:rPr lang="en-US" sz="1300" dirty="0">
                <a:solidFill>
                  <a:srgbClr val="1C2E3A"/>
                </a:solidFill>
                <a:latin typeface="Calibri" pitchFamily="34" charset="0"/>
                <a:ea typeface="Calibri" pitchFamily="34" charset="-122"/>
                <a:cs typeface="Calibri" pitchFamily="34" charset="-120"/>
              </a:rPr>
              <a:t>Pre-training Objective: CLIP is trained via contrastive loss on 400M image-text pairs, learning a joint embedding space where semantically aligned image-text pairs have high cosine similarity.</a:t>
            </a:r>
            <a:endParaRPr lang="en-US" sz="1300" dirty="0"/>
          </a:p>
          <a:p>
            <a:pPr marL="342900" indent="-342900">
              <a:spcAft>
                <a:spcPts val="1000"/>
              </a:spcAft>
              <a:buSzPct val="100000"/>
              <a:buChar char="•"/>
            </a:pPr>
            <a:r>
              <a:rPr lang="en-US" sz="1300" dirty="0">
                <a:solidFill>
                  <a:srgbClr val="1C2E3A"/>
                </a:solidFill>
                <a:latin typeface="Calibri" pitchFamily="34" charset="0"/>
                <a:ea typeface="Calibri" pitchFamily="34" charset="-122"/>
                <a:cs typeface="Calibri" pitchFamily="34" charset="-120"/>
              </a:rPr>
              <a:t>Vision Encoder: ViT-B/32 backbone extracts CLS token embeddings (dim=768) capturing global and hierarchical local semantics from MRI patches.</a:t>
            </a:r>
            <a:endParaRPr lang="en-US" sz="1300" dirty="0"/>
          </a:p>
          <a:p>
            <a:pPr marL="342900" indent="-342900">
              <a:spcAft>
                <a:spcPts val="1000"/>
              </a:spcAft>
              <a:buSzPct val="100000"/>
              <a:buChar char="•"/>
            </a:pPr>
            <a:r>
              <a:rPr lang="en-US" sz="1300" dirty="0">
                <a:solidFill>
                  <a:srgbClr val="1C2E3A"/>
                </a:solidFill>
                <a:latin typeface="Calibri" pitchFamily="34" charset="0"/>
                <a:ea typeface="Calibri" pitchFamily="34" charset="-122"/>
                <a:cs typeface="Calibri" pitchFamily="34" charset="-120"/>
              </a:rPr>
              <a:t>Fine-Tuning Strategy: Text encoder frozen; last 2 layers of vision encoder unfrozen + a linear head (768→4). Text embeddings pre-computed from class-label prompts and normalised.</a:t>
            </a:r>
            <a:endParaRPr lang="en-US" sz="1300" dirty="0"/>
          </a:p>
          <a:p>
            <a:pPr marL="342900" indent="-342900">
              <a:spcAft>
                <a:spcPts val="1000"/>
              </a:spcAft>
              <a:buSzPct val="100000"/>
              <a:buChar char="•"/>
            </a:pPr>
            <a:r>
              <a:rPr lang="en-US" sz="1300" dirty="0">
                <a:solidFill>
                  <a:srgbClr val="1C2E3A"/>
                </a:solidFill>
                <a:latin typeface="Calibri" pitchFamily="34" charset="0"/>
                <a:ea typeface="Calibri" pitchFamily="34" charset="-122"/>
                <a:cs typeface="Calibri" pitchFamily="34" charset="-120"/>
              </a:rPr>
              <a:t>Fusion Mechanism: Forward pass computes cosine similarity between vision features and fixed text embeddings → scaled logits → softmax classification.</a:t>
            </a:r>
            <a:endParaRPr lang="en-US" sz="1300" dirty="0"/>
          </a:p>
        </p:txBody>
      </p:sp>
      <p:sp>
        <p:nvSpPr>
          <p:cNvPr id="8" name="Shape 6"/>
          <p:cNvSpPr/>
          <p:nvPr/>
        </p:nvSpPr>
        <p:spPr>
          <a:xfrm>
            <a:off x="5852160" y="1188720"/>
            <a:ext cx="3108960" cy="3611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Text 7"/>
          <p:cNvSpPr/>
          <p:nvPr/>
        </p:nvSpPr>
        <p:spPr>
          <a:xfrm>
            <a:off x="5852160" y="1207008"/>
            <a:ext cx="3108960" cy="320040"/>
          </a:xfrm>
          <a:prstGeom prst="rect">
            <a:avLst/>
          </a:prstGeom>
          <a:noFill/>
          <a:ln/>
        </p:spPr>
        <p:txBody>
          <a:bodyPr wrap="square" rtlCol="0" anchor="ctr"/>
          <a:lstStyle/>
          <a:p>
            <a:pPr algn="ctr" indent="0" marL="0">
              <a:buNone/>
            </a:pPr>
            <a:r>
              <a:rPr lang="en-US" sz="1100" b="1" dirty="0">
                <a:solidFill>
                  <a:srgbClr val="1A6B72"/>
                </a:solidFill>
              </a:rPr>
              <a:t>CLIP Architecture</a:t>
            </a:r>
            <a:endParaRPr lang="en-US" sz="1100" dirty="0"/>
          </a:p>
        </p:txBody>
      </p:sp>
      <p:sp>
        <p:nvSpPr>
          <p:cNvPr id="10" name="Shape 8"/>
          <p:cNvSpPr/>
          <p:nvPr/>
        </p:nvSpPr>
        <p:spPr>
          <a:xfrm>
            <a:off x="6080760" y="1572768"/>
            <a:ext cx="2651760" cy="420624"/>
          </a:xfrm>
          <a:prstGeom prst="rect">
            <a:avLst/>
          </a:prstGeom>
          <a:solidFill>
            <a:srgbClr val="0D1B2A"/>
          </a:solidFill>
          <a:ln/>
        </p:spPr>
      </p:sp>
      <p:sp>
        <p:nvSpPr>
          <p:cNvPr id="11" name="Text 9"/>
          <p:cNvSpPr/>
          <p:nvPr/>
        </p:nvSpPr>
        <p:spPr>
          <a:xfrm>
            <a:off x="6080760" y="1572768"/>
            <a:ext cx="2651760" cy="420624"/>
          </a:xfrm>
          <a:prstGeom prst="rect">
            <a:avLst/>
          </a:prstGeom>
          <a:noFill/>
          <a:ln/>
        </p:spPr>
        <p:txBody>
          <a:bodyPr wrap="square" lIns="0" tIns="0" rIns="0" bIns="0" rtlCol="0" anchor="ctr"/>
          <a:lstStyle/>
          <a:p>
            <a:pPr algn="ctr" indent="0" marL="0">
              <a:buNone/>
            </a:pPr>
            <a:r>
              <a:rPr lang="en-US" sz="900" dirty="0">
                <a:solidFill>
                  <a:srgbClr val="FFFFFF"/>
                </a:solidFill>
              </a:rPr>
              <a:t>MRI Image Input</a:t>
            </a:r>
            <a:endParaRPr lang="en-US" sz="900" dirty="0"/>
          </a:p>
        </p:txBody>
      </p:sp>
      <p:sp>
        <p:nvSpPr>
          <p:cNvPr id="12" name="Shape 10"/>
          <p:cNvSpPr/>
          <p:nvPr/>
        </p:nvSpPr>
        <p:spPr>
          <a:xfrm>
            <a:off x="7223760" y="1993392"/>
            <a:ext cx="45720" cy="64008"/>
          </a:xfrm>
          <a:prstGeom prst="rect">
            <a:avLst/>
          </a:prstGeom>
          <a:solidFill>
            <a:srgbClr val="2EC4B6"/>
          </a:solidFill>
          <a:ln/>
        </p:spPr>
      </p:sp>
      <p:sp>
        <p:nvSpPr>
          <p:cNvPr id="13" name="Shape 11"/>
          <p:cNvSpPr/>
          <p:nvPr/>
        </p:nvSpPr>
        <p:spPr>
          <a:xfrm>
            <a:off x="6080760" y="2057400"/>
            <a:ext cx="2651760" cy="420624"/>
          </a:xfrm>
          <a:prstGeom prst="rect">
            <a:avLst/>
          </a:prstGeom>
          <a:solidFill>
            <a:srgbClr val="1A6B72"/>
          </a:solidFill>
          <a:ln/>
        </p:spPr>
      </p:sp>
      <p:sp>
        <p:nvSpPr>
          <p:cNvPr id="14" name="Text 12"/>
          <p:cNvSpPr/>
          <p:nvPr/>
        </p:nvSpPr>
        <p:spPr>
          <a:xfrm>
            <a:off x="6080760" y="2057400"/>
            <a:ext cx="2651760" cy="420624"/>
          </a:xfrm>
          <a:prstGeom prst="rect">
            <a:avLst/>
          </a:prstGeom>
          <a:noFill/>
          <a:ln/>
        </p:spPr>
        <p:txBody>
          <a:bodyPr wrap="square" lIns="0" tIns="0" rIns="0" bIns="0" rtlCol="0" anchor="ctr"/>
          <a:lstStyle/>
          <a:p>
            <a:pPr algn="ctr" indent="0" marL="0">
              <a:buNone/>
            </a:pPr>
            <a:r>
              <a:rPr lang="en-US" sz="900" dirty="0">
                <a:solidFill>
                  <a:srgbClr val="FFFFFF"/>
                </a:solidFill>
              </a:rPr>
              <a:t>ViT-B/32 Encoder</a:t>
            </a:r>
            <a:endParaRPr lang="en-US" sz="900" dirty="0"/>
          </a:p>
          <a:p>
            <a:pPr algn="ctr" indent="0" marL="0">
              <a:buNone/>
            </a:pPr>
            <a:r>
              <a:rPr lang="en-US" sz="900" dirty="0">
                <a:solidFill>
                  <a:srgbClr val="FFFFFF"/>
                </a:solidFill>
              </a:rPr>
              <a:t>(last 2 layers ▼)</a:t>
            </a:r>
            <a:endParaRPr lang="en-US" sz="900" dirty="0"/>
          </a:p>
        </p:txBody>
      </p:sp>
      <p:sp>
        <p:nvSpPr>
          <p:cNvPr id="15" name="Shape 13"/>
          <p:cNvSpPr/>
          <p:nvPr/>
        </p:nvSpPr>
        <p:spPr>
          <a:xfrm>
            <a:off x="7223760" y="2478024"/>
            <a:ext cx="45720" cy="64008"/>
          </a:xfrm>
          <a:prstGeom prst="rect">
            <a:avLst/>
          </a:prstGeom>
          <a:solidFill>
            <a:srgbClr val="2EC4B6"/>
          </a:solidFill>
          <a:ln/>
        </p:spPr>
      </p:sp>
      <p:sp>
        <p:nvSpPr>
          <p:cNvPr id="16" name="Shape 14"/>
          <p:cNvSpPr/>
          <p:nvPr/>
        </p:nvSpPr>
        <p:spPr>
          <a:xfrm>
            <a:off x="6080760" y="2542032"/>
            <a:ext cx="2651760" cy="420624"/>
          </a:xfrm>
          <a:prstGeom prst="rect">
            <a:avLst/>
          </a:prstGeom>
          <a:solidFill>
            <a:srgbClr val="7FA8B8"/>
          </a:solidFill>
          <a:ln/>
        </p:spPr>
      </p:sp>
      <p:sp>
        <p:nvSpPr>
          <p:cNvPr id="17" name="Text 15"/>
          <p:cNvSpPr/>
          <p:nvPr/>
        </p:nvSpPr>
        <p:spPr>
          <a:xfrm>
            <a:off x="6080760" y="2542032"/>
            <a:ext cx="2651760" cy="420624"/>
          </a:xfrm>
          <a:prstGeom prst="rect">
            <a:avLst/>
          </a:prstGeom>
          <a:noFill/>
          <a:ln/>
        </p:spPr>
        <p:txBody>
          <a:bodyPr wrap="square" lIns="0" tIns="0" rIns="0" bIns="0" rtlCol="0" anchor="ctr"/>
          <a:lstStyle/>
          <a:p>
            <a:pPr algn="ctr" indent="0" marL="0">
              <a:buNone/>
            </a:pPr>
            <a:r>
              <a:rPr lang="en-US" sz="900" dirty="0">
                <a:solidFill>
                  <a:srgbClr val="FFFFFF"/>
                </a:solidFill>
              </a:rPr>
              <a:t>Class Prompts</a:t>
            </a:r>
            <a:endParaRPr lang="en-US" sz="900" dirty="0"/>
          </a:p>
          <a:p>
            <a:pPr algn="ctr" indent="0" marL="0">
              <a:buNone/>
            </a:pPr>
            <a:r>
              <a:rPr lang="en-US" sz="900" dirty="0">
                <a:solidFill>
                  <a:srgbClr val="FFFFFF"/>
                </a:solidFill>
              </a:rPr>
              <a:t>"a photo of [class]"</a:t>
            </a:r>
            <a:endParaRPr lang="en-US" sz="900" dirty="0"/>
          </a:p>
        </p:txBody>
      </p:sp>
      <p:sp>
        <p:nvSpPr>
          <p:cNvPr id="18" name="Shape 16"/>
          <p:cNvSpPr/>
          <p:nvPr/>
        </p:nvSpPr>
        <p:spPr>
          <a:xfrm>
            <a:off x="7223760" y="2962656"/>
            <a:ext cx="45720" cy="64008"/>
          </a:xfrm>
          <a:prstGeom prst="rect">
            <a:avLst/>
          </a:prstGeom>
          <a:solidFill>
            <a:srgbClr val="2EC4B6"/>
          </a:solidFill>
          <a:ln/>
        </p:spPr>
      </p:sp>
      <p:sp>
        <p:nvSpPr>
          <p:cNvPr id="19" name="Shape 17"/>
          <p:cNvSpPr/>
          <p:nvPr/>
        </p:nvSpPr>
        <p:spPr>
          <a:xfrm>
            <a:off x="6080760" y="3026664"/>
            <a:ext cx="2651760" cy="420624"/>
          </a:xfrm>
          <a:prstGeom prst="rect">
            <a:avLst/>
          </a:prstGeom>
          <a:solidFill>
            <a:srgbClr val="2EC4B6"/>
          </a:solidFill>
          <a:ln/>
        </p:spPr>
      </p:sp>
      <p:sp>
        <p:nvSpPr>
          <p:cNvPr id="20" name="Text 18"/>
          <p:cNvSpPr/>
          <p:nvPr/>
        </p:nvSpPr>
        <p:spPr>
          <a:xfrm>
            <a:off x="6080760" y="3026664"/>
            <a:ext cx="2651760" cy="420624"/>
          </a:xfrm>
          <a:prstGeom prst="rect">
            <a:avLst/>
          </a:prstGeom>
          <a:noFill/>
          <a:ln/>
        </p:spPr>
        <p:txBody>
          <a:bodyPr wrap="square" lIns="0" tIns="0" rIns="0" bIns="0" rtlCol="0" anchor="ctr"/>
          <a:lstStyle/>
          <a:p>
            <a:pPr algn="ctr" indent="0" marL="0">
              <a:buNone/>
            </a:pPr>
            <a:r>
              <a:rPr lang="en-US" sz="900" dirty="0">
                <a:solidFill>
                  <a:srgbClr val="FFFFFF"/>
                </a:solidFill>
              </a:rPr>
              <a:t>Cosine Similarity</a:t>
            </a:r>
            <a:endParaRPr lang="en-US" sz="900" dirty="0"/>
          </a:p>
          <a:p>
            <a:pPr algn="ctr" indent="0" marL="0">
              <a:buNone/>
            </a:pPr>
            <a:r>
              <a:rPr lang="en-US" sz="900" dirty="0">
                <a:solidFill>
                  <a:srgbClr val="FFFFFF"/>
                </a:solidFill>
              </a:rPr>
              <a:t>Logits × Temperature</a:t>
            </a:r>
            <a:endParaRPr lang="en-US" sz="900" dirty="0"/>
          </a:p>
        </p:txBody>
      </p:sp>
      <p:sp>
        <p:nvSpPr>
          <p:cNvPr id="21" name="Shape 19"/>
          <p:cNvSpPr/>
          <p:nvPr/>
        </p:nvSpPr>
        <p:spPr>
          <a:xfrm>
            <a:off x="7223760" y="3447288"/>
            <a:ext cx="45720" cy="64008"/>
          </a:xfrm>
          <a:prstGeom prst="rect">
            <a:avLst/>
          </a:prstGeom>
          <a:solidFill>
            <a:srgbClr val="2EC4B6"/>
          </a:solidFill>
          <a:ln/>
        </p:spPr>
      </p:sp>
      <p:sp>
        <p:nvSpPr>
          <p:cNvPr id="22" name="Shape 20"/>
          <p:cNvSpPr/>
          <p:nvPr/>
        </p:nvSpPr>
        <p:spPr>
          <a:xfrm>
            <a:off x="6080760" y="3511296"/>
            <a:ext cx="2651760" cy="420624"/>
          </a:xfrm>
          <a:prstGeom prst="rect">
            <a:avLst/>
          </a:prstGeom>
          <a:solidFill>
            <a:srgbClr val="E07B39"/>
          </a:solidFill>
          <a:ln/>
        </p:spPr>
      </p:sp>
      <p:sp>
        <p:nvSpPr>
          <p:cNvPr id="23" name="Text 21"/>
          <p:cNvSpPr/>
          <p:nvPr/>
        </p:nvSpPr>
        <p:spPr>
          <a:xfrm>
            <a:off x="6080760" y="3511296"/>
            <a:ext cx="2651760" cy="420624"/>
          </a:xfrm>
          <a:prstGeom prst="rect">
            <a:avLst/>
          </a:prstGeom>
          <a:noFill/>
          <a:ln/>
        </p:spPr>
        <p:txBody>
          <a:bodyPr wrap="square" lIns="0" tIns="0" rIns="0" bIns="0" rtlCol="0" anchor="ctr"/>
          <a:lstStyle/>
          <a:p>
            <a:pPr algn="ctr" indent="0" marL="0">
              <a:buNone/>
            </a:pPr>
            <a:r>
              <a:rPr lang="en-US" sz="900" dirty="0">
                <a:solidFill>
                  <a:srgbClr val="FFFFFF"/>
                </a:solidFill>
              </a:rPr>
              <a:t>Softmax → 4 Classes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A6B72"/>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8 / 17</a:t>
            </a:r>
            <a:endParaRPr lang="en-US" sz="900" dirty="0"/>
          </a:p>
        </p:txBody>
      </p:sp>
      <p:sp>
        <p:nvSpPr>
          <p:cNvPr id="4" name="Shape 2"/>
          <p:cNvSpPr/>
          <p:nvPr/>
        </p:nvSpPr>
        <p:spPr>
          <a:xfrm>
            <a:off x="457200" y="201168"/>
            <a:ext cx="2167128" cy="256032"/>
          </a:xfrm>
          <a:prstGeom prst="rect">
            <a:avLst/>
          </a:prstGeom>
          <a:solidFill>
            <a:srgbClr val="2EC4B6"/>
          </a:solidFill>
          <a:ln/>
        </p:spPr>
      </p:sp>
      <p:sp>
        <p:nvSpPr>
          <p:cNvPr id="5" name="Text 3"/>
          <p:cNvSpPr/>
          <p:nvPr/>
        </p:nvSpPr>
        <p:spPr>
          <a:xfrm>
            <a:off x="457200" y="201168"/>
            <a:ext cx="2167128" cy="256032"/>
          </a:xfrm>
          <a:prstGeom prst="rect">
            <a:avLst/>
          </a:prstGeom>
          <a:noFill/>
          <a:ln/>
        </p:spPr>
        <p:txBody>
          <a:bodyPr wrap="square" lIns="0" tIns="0" rIns="0" bIns="0" rtlCol="0" anchor="ctr"/>
          <a:lstStyle/>
          <a:p>
            <a:pPr algn="ctr" indent="0" marL="0">
              <a:buNone/>
            </a:pPr>
            <a:r>
              <a:rPr lang="en-US" sz="850" b="1" dirty="0">
                <a:solidFill>
                  <a:srgbClr val="0D1B2A"/>
                </a:solidFill>
              </a:rPr>
              <a:t>MODEL ARCHITECTURE</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BLIP: Bootstrapped Language-Image Pretraining</a:t>
            </a:r>
            <a:endParaRPr lang="en-US" sz="2600" dirty="0"/>
          </a:p>
        </p:txBody>
      </p:sp>
      <p:sp>
        <p:nvSpPr>
          <p:cNvPr id="7" name="Text 5"/>
          <p:cNvSpPr/>
          <p:nvPr/>
        </p:nvSpPr>
        <p:spPr>
          <a:xfrm>
            <a:off x="457200" y="1298448"/>
            <a:ext cx="5212080" cy="3566160"/>
          </a:xfrm>
          <a:prstGeom prst="rect">
            <a:avLst/>
          </a:prstGeom>
          <a:noFill/>
          <a:ln/>
        </p:spPr>
        <p:txBody>
          <a:bodyPr wrap="square" rtlCol="0" anchor="ctr"/>
          <a:lstStyle/>
          <a:p>
            <a:pPr marL="342900" indent="-342900">
              <a:spcAft>
                <a:spcPts val="1000"/>
              </a:spcAft>
              <a:buSzPct val="100000"/>
              <a:buChar char="•"/>
            </a:pPr>
            <a:r>
              <a:rPr lang="en-US" sz="1300" dirty="0">
                <a:solidFill>
                  <a:srgbClr val="1C2E3A"/>
                </a:solidFill>
                <a:latin typeface="Calibri" pitchFamily="34" charset="0"/>
                <a:ea typeface="Calibri" pitchFamily="34" charset="-122"/>
                <a:cs typeface="Calibri" pitchFamily="34" charset="-120"/>
              </a:rPr>
              <a:t>BLIP extends contrastive learning with a bootstrapped pre-training pipeline: a captioner generates synthetic captions and a filter removes noisy ones, enabling richer multimodal representations.</a:t>
            </a:r>
            <a:endParaRPr lang="en-US" sz="1300" dirty="0"/>
          </a:p>
          <a:p>
            <a:pPr marL="342900" indent="-342900">
              <a:spcAft>
                <a:spcPts val="1000"/>
              </a:spcAft>
              <a:buSzPct val="100000"/>
              <a:buChar char="•"/>
            </a:pPr>
            <a:r>
              <a:rPr lang="en-US" sz="1300" dirty="0">
                <a:solidFill>
                  <a:srgbClr val="1C2E3A"/>
                </a:solidFill>
                <a:latin typeface="Calibri" pitchFamily="34" charset="0"/>
                <a:ea typeface="Calibri" pitchFamily="34" charset="-122"/>
                <a:cs typeface="Calibri" pitchFamily="34" charset="-120"/>
              </a:rPr>
              <a:t>Cross-Attention Mechanism: Text embeddings modulate visual features through self-attention layers in a joint encoder-decoder framework, providing finer semantic alignment between image regions and textual concepts.</a:t>
            </a:r>
            <a:endParaRPr lang="en-US" sz="1300" dirty="0"/>
          </a:p>
          <a:p>
            <a:pPr marL="342900" indent="-342900">
              <a:spcAft>
                <a:spcPts val="1000"/>
              </a:spcAft>
              <a:buSzPct val="100000"/>
              <a:buChar char="•"/>
            </a:pPr>
            <a:r>
              <a:rPr lang="en-US" sz="1300" dirty="0">
                <a:solidFill>
                  <a:srgbClr val="1C2E3A"/>
                </a:solidFill>
                <a:latin typeface="Calibri" pitchFamily="34" charset="0"/>
                <a:ea typeface="Calibri" pitchFamily="34" charset="-122"/>
                <a:cs typeface="Calibri" pitchFamily="34" charset="-120"/>
              </a:rPr>
              <a:t>Fine-Tuning Strategy: Majority of layers frozen to preserve general knowledge; final 2 vision encoder layers selectively unfrozen for MRI adaptation. Custom classification head appended.</a:t>
            </a:r>
            <a:endParaRPr lang="en-US" sz="1300" dirty="0"/>
          </a:p>
          <a:p>
            <a:pPr marL="342900" indent="-342900">
              <a:spcAft>
                <a:spcPts val="1000"/>
              </a:spcAft>
              <a:buSzPct val="100000"/>
              <a:buChar char="•"/>
            </a:pPr>
            <a:r>
              <a:rPr lang="en-US" sz="1300" dirty="0">
                <a:solidFill>
                  <a:srgbClr val="1C2E3A"/>
                </a:solidFill>
                <a:latin typeface="Calibri" pitchFamily="34" charset="0"/>
                <a:ea typeface="Calibri" pitchFamily="34" charset="-122"/>
                <a:cs typeface="Calibri" pitchFamily="34" charset="-120"/>
              </a:rPr>
              <a:t>Key Advantage: BLIP's cross-attention enables it to attend to localised tumour features (boundaries, textures) rather than global image statistics — yielding more balanced precision and recall across all four classes.</a:t>
            </a:r>
            <a:endParaRPr lang="en-US" sz="1300" dirty="0"/>
          </a:p>
        </p:txBody>
      </p:sp>
      <p:sp>
        <p:nvSpPr>
          <p:cNvPr id="8" name="Shape 6"/>
          <p:cNvSpPr/>
          <p:nvPr/>
        </p:nvSpPr>
        <p:spPr>
          <a:xfrm>
            <a:off x="5852160" y="1188720"/>
            <a:ext cx="3108960" cy="3611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Text 7"/>
          <p:cNvSpPr/>
          <p:nvPr/>
        </p:nvSpPr>
        <p:spPr>
          <a:xfrm>
            <a:off x="5852160" y="1207008"/>
            <a:ext cx="3108960" cy="320040"/>
          </a:xfrm>
          <a:prstGeom prst="rect">
            <a:avLst/>
          </a:prstGeom>
          <a:noFill/>
          <a:ln/>
        </p:spPr>
        <p:txBody>
          <a:bodyPr wrap="square" rtlCol="0" anchor="ctr"/>
          <a:lstStyle/>
          <a:p>
            <a:pPr algn="ctr" indent="0" marL="0">
              <a:buNone/>
            </a:pPr>
            <a:r>
              <a:rPr lang="en-US" sz="1100" b="1" dirty="0">
                <a:solidFill>
                  <a:srgbClr val="1A6B72"/>
                </a:solidFill>
              </a:rPr>
              <a:t>BLIP Architecture</a:t>
            </a:r>
            <a:endParaRPr lang="en-US" sz="1100" dirty="0"/>
          </a:p>
        </p:txBody>
      </p:sp>
      <p:sp>
        <p:nvSpPr>
          <p:cNvPr id="10" name="Shape 8"/>
          <p:cNvSpPr/>
          <p:nvPr/>
        </p:nvSpPr>
        <p:spPr>
          <a:xfrm>
            <a:off x="6080760" y="1572768"/>
            <a:ext cx="2651760" cy="420624"/>
          </a:xfrm>
          <a:prstGeom prst="rect">
            <a:avLst/>
          </a:prstGeom>
          <a:solidFill>
            <a:srgbClr val="0D1B2A"/>
          </a:solidFill>
          <a:ln/>
        </p:spPr>
      </p:sp>
      <p:sp>
        <p:nvSpPr>
          <p:cNvPr id="11" name="Text 9"/>
          <p:cNvSpPr/>
          <p:nvPr/>
        </p:nvSpPr>
        <p:spPr>
          <a:xfrm>
            <a:off x="6080760" y="1572768"/>
            <a:ext cx="2651760" cy="420624"/>
          </a:xfrm>
          <a:prstGeom prst="rect">
            <a:avLst/>
          </a:prstGeom>
          <a:noFill/>
          <a:ln/>
        </p:spPr>
        <p:txBody>
          <a:bodyPr wrap="square" lIns="0" tIns="0" rIns="0" bIns="0" rtlCol="0" anchor="ctr"/>
          <a:lstStyle/>
          <a:p>
            <a:pPr algn="ctr" indent="0" marL="0">
              <a:buNone/>
            </a:pPr>
            <a:r>
              <a:rPr lang="en-US" sz="900" dirty="0">
                <a:solidFill>
                  <a:srgbClr val="FFFFFF"/>
                </a:solidFill>
              </a:rPr>
              <a:t>MRI Image Input</a:t>
            </a:r>
            <a:endParaRPr lang="en-US" sz="900" dirty="0"/>
          </a:p>
        </p:txBody>
      </p:sp>
      <p:sp>
        <p:nvSpPr>
          <p:cNvPr id="12" name="Shape 10"/>
          <p:cNvSpPr/>
          <p:nvPr/>
        </p:nvSpPr>
        <p:spPr>
          <a:xfrm>
            <a:off x="7223760" y="1993392"/>
            <a:ext cx="45720" cy="64008"/>
          </a:xfrm>
          <a:prstGeom prst="rect">
            <a:avLst/>
          </a:prstGeom>
          <a:solidFill>
            <a:srgbClr val="2EC4B6"/>
          </a:solidFill>
          <a:ln/>
        </p:spPr>
      </p:sp>
      <p:sp>
        <p:nvSpPr>
          <p:cNvPr id="13" name="Shape 11"/>
          <p:cNvSpPr/>
          <p:nvPr/>
        </p:nvSpPr>
        <p:spPr>
          <a:xfrm>
            <a:off x="6080760" y="2057400"/>
            <a:ext cx="2651760" cy="420624"/>
          </a:xfrm>
          <a:prstGeom prst="rect">
            <a:avLst/>
          </a:prstGeom>
          <a:solidFill>
            <a:srgbClr val="1A6B72"/>
          </a:solidFill>
          <a:ln/>
        </p:spPr>
      </p:sp>
      <p:sp>
        <p:nvSpPr>
          <p:cNvPr id="14" name="Text 12"/>
          <p:cNvSpPr/>
          <p:nvPr/>
        </p:nvSpPr>
        <p:spPr>
          <a:xfrm>
            <a:off x="6080760" y="2057400"/>
            <a:ext cx="2651760" cy="420624"/>
          </a:xfrm>
          <a:prstGeom prst="rect">
            <a:avLst/>
          </a:prstGeom>
          <a:noFill/>
          <a:ln/>
        </p:spPr>
        <p:txBody>
          <a:bodyPr wrap="square" lIns="0" tIns="0" rIns="0" bIns="0" rtlCol="0" anchor="ctr"/>
          <a:lstStyle/>
          <a:p>
            <a:pPr algn="ctr" indent="0" marL="0">
              <a:buNone/>
            </a:pPr>
            <a:r>
              <a:rPr lang="en-US" sz="900" dirty="0">
                <a:solidFill>
                  <a:srgbClr val="FFFFFF"/>
                </a:solidFill>
              </a:rPr>
              <a:t>ViT Encoder</a:t>
            </a:r>
            <a:endParaRPr lang="en-US" sz="900" dirty="0"/>
          </a:p>
          <a:p>
            <a:pPr algn="ctr" indent="0" marL="0">
              <a:buNone/>
            </a:pPr>
            <a:r>
              <a:rPr lang="en-US" sz="900" dirty="0">
                <a:solidFill>
                  <a:srgbClr val="FFFFFF"/>
                </a:solidFill>
              </a:rPr>
              <a:t>(last 2 layers ▼)</a:t>
            </a:r>
            <a:endParaRPr lang="en-US" sz="900" dirty="0"/>
          </a:p>
        </p:txBody>
      </p:sp>
      <p:sp>
        <p:nvSpPr>
          <p:cNvPr id="15" name="Shape 13"/>
          <p:cNvSpPr/>
          <p:nvPr/>
        </p:nvSpPr>
        <p:spPr>
          <a:xfrm>
            <a:off x="7223760" y="2478024"/>
            <a:ext cx="45720" cy="64008"/>
          </a:xfrm>
          <a:prstGeom prst="rect">
            <a:avLst/>
          </a:prstGeom>
          <a:solidFill>
            <a:srgbClr val="2EC4B6"/>
          </a:solidFill>
          <a:ln/>
        </p:spPr>
      </p:sp>
      <p:sp>
        <p:nvSpPr>
          <p:cNvPr id="16" name="Shape 14"/>
          <p:cNvSpPr/>
          <p:nvPr/>
        </p:nvSpPr>
        <p:spPr>
          <a:xfrm>
            <a:off x="6080760" y="2542032"/>
            <a:ext cx="2651760" cy="420624"/>
          </a:xfrm>
          <a:prstGeom prst="rect">
            <a:avLst/>
          </a:prstGeom>
          <a:solidFill>
            <a:srgbClr val="2EC4B6"/>
          </a:solidFill>
          <a:ln/>
        </p:spPr>
      </p:sp>
      <p:sp>
        <p:nvSpPr>
          <p:cNvPr id="17" name="Text 15"/>
          <p:cNvSpPr/>
          <p:nvPr/>
        </p:nvSpPr>
        <p:spPr>
          <a:xfrm>
            <a:off x="6080760" y="2542032"/>
            <a:ext cx="2651760" cy="420624"/>
          </a:xfrm>
          <a:prstGeom prst="rect">
            <a:avLst/>
          </a:prstGeom>
          <a:noFill/>
          <a:ln/>
        </p:spPr>
        <p:txBody>
          <a:bodyPr wrap="square" lIns="0" tIns="0" rIns="0" bIns="0" rtlCol="0" anchor="ctr"/>
          <a:lstStyle/>
          <a:p>
            <a:pPr algn="ctr" indent="0" marL="0">
              <a:buNone/>
            </a:pPr>
            <a:r>
              <a:rPr lang="en-US" sz="900" dirty="0">
                <a:solidFill>
                  <a:srgbClr val="FFFFFF"/>
                </a:solidFill>
              </a:rPr>
              <a:t>Cross-Attention</a:t>
            </a:r>
            <a:endParaRPr lang="en-US" sz="900" dirty="0"/>
          </a:p>
          <a:p>
            <a:pPr algn="ctr" indent="0" marL="0">
              <a:buNone/>
            </a:pPr>
            <a:r>
              <a:rPr lang="en-US" sz="900" dirty="0">
                <a:solidFill>
                  <a:srgbClr val="FFFFFF"/>
                </a:solidFill>
              </a:rPr>
              <a:t>Text ↔ Vision Fusion</a:t>
            </a:r>
            <a:endParaRPr lang="en-US" sz="900" dirty="0"/>
          </a:p>
        </p:txBody>
      </p:sp>
      <p:sp>
        <p:nvSpPr>
          <p:cNvPr id="18" name="Shape 16"/>
          <p:cNvSpPr/>
          <p:nvPr/>
        </p:nvSpPr>
        <p:spPr>
          <a:xfrm>
            <a:off x="7223760" y="2962656"/>
            <a:ext cx="45720" cy="64008"/>
          </a:xfrm>
          <a:prstGeom prst="rect">
            <a:avLst/>
          </a:prstGeom>
          <a:solidFill>
            <a:srgbClr val="2EC4B6"/>
          </a:solidFill>
          <a:ln/>
        </p:spPr>
      </p:sp>
      <p:sp>
        <p:nvSpPr>
          <p:cNvPr id="19" name="Shape 17"/>
          <p:cNvSpPr/>
          <p:nvPr/>
        </p:nvSpPr>
        <p:spPr>
          <a:xfrm>
            <a:off x="6080760" y="3026664"/>
            <a:ext cx="2651760" cy="420624"/>
          </a:xfrm>
          <a:prstGeom prst="rect">
            <a:avLst/>
          </a:prstGeom>
          <a:solidFill>
            <a:srgbClr val="1A6B72"/>
          </a:solidFill>
          <a:ln/>
        </p:spPr>
      </p:sp>
      <p:sp>
        <p:nvSpPr>
          <p:cNvPr id="20" name="Text 18"/>
          <p:cNvSpPr/>
          <p:nvPr/>
        </p:nvSpPr>
        <p:spPr>
          <a:xfrm>
            <a:off x="6080760" y="3026664"/>
            <a:ext cx="2651760" cy="420624"/>
          </a:xfrm>
          <a:prstGeom prst="rect">
            <a:avLst/>
          </a:prstGeom>
          <a:noFill/>
          <a:ln/>
        </p:spPr>
        <p:txBody>
          <a:bodyPr wrap="square" lIns="0" tIns="0" rIns="0" bIns="0" rtlCol="0" anchor="ctr"/>
          <a:lstStyle/>
          <a:p>
            <a:pPr algn="ctr" indent="0" marL="0">
              <a:buNone/>
            </a:pPr>
            <a:r>
              <a:rPr lang="en-US" sz="900" dirty="0">
                <a:solidFill>
                  <a:srgbClr val="FFFFFF"/>
                </a:solidFill>
              </a:rPr>
              <a:t>MLP Fusion Layer</a:t>
            </a:r>
            <a:endParaRPr lang="en-US" sz="900" dirty="0"/>
          </a:p>
        </p:txBody>
      </p:sp>
      <p:sp>
        <p:nvSpPr>
          <p:cNvPr id="21" name="Shape 19"/>
          <p:cNvSpPr/>
          <p:nvPr/>
        </p:nvSpPr>
        <p:spPr>
          <a:xfrm>
            <a:off x="7223760" y="3447288"/>
            <a:ext cx="45720" cy="64008"/>
          </a:xfrm>
          <a:prstGeom prst="rect">
            <a:avLst/>
          </a:prstGeom>
          <a:solidFill>
            <a:srgbClr val="2EC4B6"/>
          </a:solidFill>
          <a:ln/>
        </p:spPr>
      </p:sp>
      <p:sp>
        <p:nvSpPr>
          <p:cNvPr id="22" name="Shape 20"/>
          <p:cNvSpPr/>
          <p:nvPr/>
        </p:nvSpPr>
        <p:spPr>
          <a:xfrm>
            <a:off x="6080760" y="3511296"/>
            <a:ext cx="2651760" cy="420624"/>
          </a:xfrm>
          <a:prstGeom prst="rect">
            <a:avLst/>
          </a:prstGeom>
          <a:solidFill>
            <a:srgbClr val="E07B39"/>
          </a:solidFill>
          <a:ln/>
        </p:spPr>
      </p:sp>
      <p:sp>
        <p:nvSpPr>
          <p:cNvPr id="23" name="Text 21"/>
          <p:cNvSpPr/>
          <p:nvPr/>
        </p:nvSpPr>
        <p:spPr>
          <a:xfrm>
            <a:off x="6080760" y="3511296"/>
            <a:ext cx="2651760" cy="420624"/>
          </a:xfrm>
          <a:prstGeom prst="rect">
            <a:avLst/>
          </a:prstGeom>
          <a:noFill/>
          <a:ln/>
        </p:spPr>
        <p:txBody>
          <a:bodyPr wrap="square" lIns="0" tIns="0" rIns="0" bIns="0" rtlCol="0" anchor="ctr"/>
          <a:lstStyle/>
          <a:p>
            <a:pPr algn="ctr" indent="0" marL="0">
              <a:buNone/>
            </a:pPr>
            <a:r>
              <a:rPr lang="en-US" sz="900" dirty="0">
                <a:solidFill>
                  <a:srgbClr val="FFFFFF"/>
                </a:solidFill>
              </a:rPr>
              <a:t>Softmax → 4 Classes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A6B72"/>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9 / 17</a:t>
            </a:r>
            <a:endParaRPr lang="en-US" sz="900" dirty="0"/>
          </a:p>
        </p:txBody>
      </p:sp>
      <p:sp>
        <p:nvSpPr>
          <p:cNvPr id="4" name="Shape 2"/>
          <p:cNvSpPr/>
          <p:nvPr/>
        </p:nvSpPr>
        <p:spPr>
          <a:xfrm>
            <a:off x="457200" y="201168"/>
            <a:ext cx="2377440" cy="256032"/>
          </a:xfrm>
          <a:prstGeom prst="rect">
            <a:avLst/>
          </a:prstGeom>
          <a:solidFill>
            <a:srgbClr val="2EC4B6"/>
          </a:solidFill>
          <a:ln/>
        </p:spPr>
      </p:sp>
      <p:sp>
        <p:nvSpPr>
          <p:cNvPr id="5" name="Text 3"/>
          <p:cNvSpPr/>
          <p:nvPr/>
        </p:nvSpPr>
        <p:spPr>
          <a:xfrm>
            <a:off x="457200" y="201168"/>
            <a:ext cx="2377440" cy="256032"/>
          </a:xfrm>
          <a:prstGeom prst="rect">
            <a:avLst/>
          </a:prstGeom>
          <a:noFill/>
          <a:ln/>
        </p:spPr>
        <p:txBody>
          <a:bodyPr wrap="square" lIns="0" tIns="0" rIns="0" bIns="0" rtlCol="0" anchor="ctr"/>
          <a:lstStyle/>
          <a:p>
            <a:pPr algn="ctr" indent="0" marL="0">
              <a:buNone/>
            </a:pPr>
            <a:r>
              <a:rPr lang="en-US" sz="850" b="1" dirty="0">
                <a:solidFill>
                  <a:srgbClr val="0D1B2A"/>
                </a:solidFill>
              </a:rPr>
              <a:t>FINE-TUNING STRATEGY</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Selective Layer Unfreezing: Preserving Pretrained Knowledge</a:t>
            </a:r>
            <a:endParaRPr lang="en-US" sz="2600" dirty="0"/>
          </a:p>
        </p:txBody>
      </p:sp>
      <p:sp>
        <p:nvSpPr>
          <p:cNvPr id="7" name="Text 5"/>
          <p:cNvSpPr/>
          <p:nvPr/>
        </p:nvSpPr>
        <p:spPr>
          <a:xfrm>
            <a:off x="457200" y="1298448"/>
            <a:ext cx="8229600" cy="3566160"/>
          </a:xfrm>
          <a:prstGeom prst="rect">
            <a:avLst/>
          </a:prstGeom>
          <a:noFill/>
          <a:ln/>
        </p:spPr>
        <p:txBody>
          <a:bodyPr wrap="square" rtlCol="0" anchor="ctr"/>
          <a:lstStyle/>
          <a:p>
            <a:pPr marL="342900" indent="-342900">
              <a:spcAft>
                <a:spcPts val="1000"/>
              </a:spcAft>
              <a:buSzPct val="100000"/>
              <a:buChar char="•"/>
            </a:pPr>
            <a:r>
              <a:rPr lang="en-US" sz="1450" dirty="0">
                <a:solidFill>
                  <a:srgbClr val="1C2E3A"/>
                </a:solidFill>
                <a:latin typeface="Calibri" pitchFamily="34" charset="0"/>
                <a:ea typeface="Calibri" pitchFamily="34" charset="-122"/>
                <a:cs typeface="Calibri" pitchFamily="34" charset="-120"/>
              </a:rPr>
              <a:t>Frozen Backbone: The bulk of both CLIP and BLIP vision encoders remain frozen, preserving general-purpose hierarchical features learned from large-scale pretraining (e.g., edge detection, texture, shape) — reducing overfitting risk on the 7,023-image medical dataset.</a:t>
            </a:r>
            <a:endParaRPr lang="en-US" sz="1450" dirty="0"/>
          </a:p>
          <a:p>
            <a:pPr marL="342900" indent="-342900">
              <a:spcAft>
                <a:spcPts val="1000"/>
              </a:spcAft>
              <a:buSzPct val="100000"/>
              <a:buChar char="•"/>
            </a:pPr>
            <a:r>
              <a:rPr lang="en-US" sz="1450" dirty="0">
                <a:solidFill>
                  <a:srgbClr val="1C2E3A"/>
                </a:solidFill>
                <a:latin typeface="Calibri" pitchFamily="34" charset="0"/>
                <a:ea typeface="Calibri" pitchFamily="34" charset="-122"/>
                <a:cs typeface="Calibri" pitchFamily="34" charset="-120"/>
              </a:rPr>
              <a:t>Unfrozen Last 2 Vision Layers: Only the final two transformer blocks of the ViT are unfrozen. These layers are responsible for task-specific feature aggregation — unfreezing them allows adaptation to MRI-specific patterns such as tumour morphology and tissue heterogeneity.</a:t>
            </a:r>
            <a:endParaRPr lang="en-US" sz="1450" dirty="0"/>
          </a:p>
          <a:p>
            <a:pPr marL="342900" indent="-342900">
              <a:spcAft>
                <a:spcPts val="1000"/>
              </a:spcAft>
              <a:buSzPct val="100000"/>
              <a:buChar char="•"/>
            </a:pPr>
            <a:r>
              <a:rPr lang="en-US" sz="1450" dirty="0">
                <a:solidFill>
                  <a:srgbClr val="1C2E3A"/>
                </a:solidFill>
                <a:latin typeface="Calibri" pitchFamily="34" charset="0"/>
                <a:ea typeface="Calibri" pitchFamily="34" charset="-122"/>
                <a:cs typeface="Calibri" pitchFamily="34" charset="-120"/>
              </a:rPr>
              <a:t>Text Encoder Fully Frozen: Text embeddings for class-label prompts are pre-computed and fixed throughout training. This prevents semantic drift and ensures consistent alignment between visual features and class concepts.</a:t>
            </a:r>
            <a:endParaRPr lang="en-US" sz="1450" dirty="0"/>
          </a:p>
          <a:p>
            <a:pPr marL="342900" indent="-342900">
              <a:spcAft>
                <a:spcPts val="1000"/>
              </a:spcAft>
              <a:buSzPct val="100000"/>
              <a:buChar char="•"/>
            </a:pPr>
            <a:r>
              <a:rPr lang="en-US" sz="1450" dirty="0">
                <a:solidFill>
                  <a:srgbClr val="1C2E3A"/>
                </a:solidFill>
                <a:latin typeface="Calibri" pitchFamily="34" charset="0"/>
                <a:ea typeface="Calibri" pitchFamily="34" charset="-122"/>
                <a:cs typeface="Calibri" pitchFamily="34" charset="-120"/>
              </a:rPr>
              <a:t>Rationale: This asymmetric fine-tuning strategy balances computational efficiency (fewer trainable parameters) with domain adaptation — avoiding catastrophic forgetting while enabling MRI-specific visual learning.</a:t>
            </a:r>
            <a:endParaRPr lang="en-US" sz="1450" dirty="0"/>
          </a:p>
        </p:txBody>
      </p:sp>
      <p:sp>
        <p:nvSpPr>
          <p:cNvPr id="8" name="Shape 6"/>
          <p:cNvSpPr/>
          <p:nvPr/>
        </p:nvSpPr>
        <p:spPr>
          <a:xfrm>
            <a:off x="6858000" y="1325880"/>
            <a:ext cx="2103120" cy="420624"/>
          </a:xfrm>
          <a:prstGeom prst="rect">
            <a:avLst/>
          </a:prstGeom>
          <a:solidFill>
            <a:srgbClr val="7FA8B8"/>
          </a:solidFill>
          <a:ln/>
          <a:effectLst>
            <a:outerShdw sx="100000" sy="100000" kx="0" ky="0" algn="bl" rotWithShape="0" blurRad="101600" dist="38100" dir="8100000">
              <a:srgbClr val="000000">
                <a:alpha val="12000"/>
              </a:srgbClr>
            </a:outerShdw>
          </a:effectLst>
        </p:spPr>
      </p:sp>
      <p:sp>
        <p:nvSpPr>
          <p:cNvPr id="9" name="Text 7"/>
          <p:cNvSpPr/>
          <p:nvPr/>
        </p:nvSpPr>
        <p:spPr>
          <a:xfrm>
            <a:off x="6858000" y="1325880"/>
            <a:ext cx="2103120" cy="420624"/>
          </a:xfrm>
          <a:prstGeom prst="rect">
            <a:avLst/>
          </a:prstGeom>
          <a:noFill/>
          <a:ln/>
        </p:spPr>
        <p:txBody>
          <a:bodyPr wrap="square" lIns="0" tIns="0" rIns="0" bIns="0" rtlCol="0" anchor="ctr"/>
          <a:lstStyle/>
          <a:p>
            <a:pPr algn="ctr" indent="0" marL="0">
              <a:buNone/>
            </a:pPr>
            <a:r>
              <a:rPr lang="en-US" sz="950" dirty="0">
                <a:solidFill>
                  <a:srgbClr val="FFFFFF"/>
                </a:solidFill>
              </a:rPr>
              <a:t>Layer N-5 (frozen)</a:t>
            </a:r>
            <a:endParaRPr lang="en-US" sz="950" dirty="0"/>
          </a:p>
        </p:txBody>
      </p:sp>
      <p:sp>
        <p:nvSpPr>
          <p:cNvPr id="10" name="Shape 8"/>
          <p:cNvSpPr/>
          <p:nvPr/>
        </p:nvSpPr>
        <p:spPr>
          <a:xfrm>
            <a:off x="6858000" y="1856232"/>
            <a:ext cx="2103120" cy="420624"/>
          </a:xfrm>
          <a:prstGeom prst="rect">
            <a:avLst/>
          </a:prstGeom>
          <a:solidFill>
            <a:srgbClr val="7FA8B8"/>
          </a:solidFill>
          <a:ln/>
          <a:effectLst>
            <a:outerShdw sx="100000" sy="100000" kx="0" ky="0" algn="bl" rotWithShape="0" blurRad="101600" dist="38100" dir="8100000">
              <a:srgbClr val="000000">
                <a:alpha val="12000"/>
              </a:srgbClr>
            </a:outerShdw>
          </a:effectLst>
        </p:spPr>
      </p:sp>
      <p:sp>
        <p:nvSpPr>
          <p:cNvPr id="11" name="Text 9"/>
          <p:cNvSpPr/>
          <p:nvPr/>
        </p:nvSpPr>
        <p:spPr>
          <a:xfrm>
            <a:off x="6858000" y="1856232"/>
            <a:ext cx="2103120" cy="420624"/>
          </a:xfrm>
          <a:prstGeom prst="rect">
            <a:avLst/>
          </a:prstGeom>
          <a:noFill/>
          <a:ln/>
        </p:spPr>
        <p:txBody>
          <a:bodyPr wrap="square" lIns="0" tIns="0" rIns="0" bIns="0" rtlCol="0" anchor="ctr"/>
          <a:lstStyle/>
          <a:p>
            <a:pPr algn="ctr" indent="0" marL="0">
              <a:buNone/>
            </a:pPr>
            <a:r>
              <a:rPr lang="en-US" sz="950" dirty="0">
                <a:solidFill>
                  <a:srgbClr val="FFFFFF"/>
                </a:solidFill>
              </a:rPr>
              <a:t>Layer N-4 (frozen)</a:t>
            </a:r>
            <a:endParaRPr lang="en-US" sz="950" dirty="0"/>
          </a:p>
        </p:txBody>
      </p:sp>
      <p:sp>
        <p:nvSpPr>
          <p:cNvPr id="12" name="Shape 10"/>
          <p:cNvSpPr/>
          <p:nvPr/>
        </p:nvSpPr>
        <p:spPr>
          <a:xfrm>
            <a:off x="6858000" y="2386584"/>
            <a:ext cx="2103120" cy="420624"/>
          </a:xfrm>
          <a:prstGeom prst="rect">
            <a:avLst/>
          </a:prstGeom>
          <a:solidFill>
            <a:srgbClr val="7FA8B8"/>
          </a:solidFill>
          <a:ln/>
          <a:effectLst>
            <a:outerShdw sx="100000" sy="100000" kx="0" ky="0" algn="bl" rotWithShape="0" blurRad="101600" dist="38100" dir="8100000">
              <a:srgbClr val="000000">
                <a:alpha val="12000"/>
              </a:srgbClr>
            </a:outerShdw>
          </a:effectLst>
        </p:spPr>
      </p:sp>
      <p:sp>
        <p:nvSpPr>
          <p:cNvPr id="13" name="Text 11"/>
          <p:cNvSpPr/>
          <p:nvPr/>
        </p:nvSpPr>
        <p:spPr>
          <a:xfrm>
            <a:off x="6858000" y="2386584"/>
            <a:ext cx="2103120" cy="420624"/>
          </a:xfrm>
          <a:prstGeom prst="rect">
            <a:avLst/>
          </a:prstGeom>
          <a:noFill/>
          <a:ln/>
        </p:spPr>
        <p:txBody>
          <a:bodyPr wrap="square" lIns="0" tIns="0" rIns="0" bIns="0" rtlCol="0" anchor="ctr"/>
          <a:lstStyle/>
          <a:p>
            <a:pPr algn="ctr" indent="0" marL="0">
              <a:buNone/>
            </a:pPr>
            <a:r>
              <a:rPr lang="en-US" sz="950" dirty="0">
                <a:solidFill>
                  <a:srgbClr val="FFFFFF"/>
                </a:solidFill>
              </a:rPr>
              <a:t>Layer N-3 (frozen)</a:t>
            </a:r>
            <a:endParaRPr lang="en-US" sz="950" dirty="0"/>
          </a:p>
        </p:txBody>
      </p:sp>
      <p:sp>
        <p:nvSpPr>
          <p:cNvPr id="14" name="Shape 12"/>
          <p:cNvSpPr/>
          <p:nvPr/>
        </p:nvSpPr>
        <p:spPr>
          <a:xfrm>
            <a:off x="6858000" y="2916936"/>
            <a:ext cx="2103120" cy="420624"/>
          </a:xfrm>
          <a:prstGeom prst="rect">
            <a:avLst/>
          </a:prstGeom>
          <a:solidFill>
            <a:srgbClr val="1A6B72"/>
          </a:solidFill>
          <a:ln/>
          <a:effectLst>
            <a:outerShdw sx="100000" sy="100000" kx="0" ky="0" algn="bl" rotWithShape="0" blurRad="101600" dist="38100" dir="8100000">
              <a:srgbClr val="000000">
                <a:alpha val="12000"/>
              </a:srgbClr>
            </a:outerShdw>
          </a:effectLst>
        </p:spPr>
      </p:sp>
      <p:sp>
        <p:nvSpPr>
          <p:cNvPr id="15" name="Text 13"/>
          <p:cNvSpPr/>
          <p:nvPr/>
        </p:nvSpPr>
        <p:spPr>
          <a:xfrm>
            <a:off x="6858000" y="2916936"/>
            <a:ext cx="2103120" cy="420624"/>
          </a:xfrm>
          <a:prstGeom prst="rect">
            <a:avLst/>
          </a:prstGeom>
          <a:noFill/>
          <a:ln/>
        </p:spPr>
        <p:txBody>
          <a:bodyPr wrap="square" lIns="0" tIns="0" rIns="0" bIns="0" rtlCol="0" anchor="ctr"/>
          <a:lstStyle/>
          <a:p>
            <a:pPr algn="ctr" indent="0" marL="0">
              <a:buNone/>
            </a:pPr>
            <a:r>
              <a:rPr lang="en-US" sz="950" dirty="0">
                <a:solidFill>
                  <a:srgbClr val="FFFFFF"/>
                </a:solidFill>
              </a:rPr>
              <a:t>Layer N-2 ← UNFROZEN</a:t>
            </a:r>
            <a:endParaRPr lang="en-US" sz="950" dirty="0"/>
          </a:p>
        </p:txBody>
      </p:sp>
      <p:sp>
        <p:nvSpPr>
          <p:cNvPr id="16" name="Shape 14"/>
          <p:cNvSpPr/>
          <p:nvPr/>
        </p:nvSpPr>
        <p:spPr>
          <a:xfrm>
            <a:off x="6858000" y="3447288"/>
            <a:ext cx="2103120" cy="420624"/>
          </a:xfrm>
          <a:prstGeom prst="rect">
            <a:avLst/>
          </a:prstGeom>
          <a:solidFill>
            <a:srgbClr val="1A6B72"/>
          </a:solidFill>
          <a:ln/>
          <a:effectLst>
            <a:outerShdw sx="100000" sy="100000" kx="0" ky="0" algn="bl" rotWithShape="0" blurRad="101600" dist="38100" dir="8100000">
              <a:srgbClr val="000000">
                <a:alpha val="12000"/>
              </a:srgbClr>
            </a:outerShdw>
          </a:effectLst>
        </p:spPr>
      </p:sp>
      <p:sp>
        <p:nvSpPr>
          <p:cNvPr id="17" name="Text 15"/>
          <p:cNvSpPr/>
          <p:nvPr/>
        </p:nvSpPr>
        <p:spPr>
          <a:xfrm>
            <a:off x="6858000" y="3447288"/>
            <a:ext cx="2103120" cy="420624"/>
          </a:xfrm>
          <a:prstGeom prst="rect">
            <a:avLst/>
          </a:prstGeom>
          <a:noFill/>
          <a:ln/>
        </p:spPr>
        <p:txBody>
          <a:bodyPr wrap="square" lIns="0" tIns="0" rIns="0" bIns="0" rtlCol="0" anchor="ctr"/>
          <a:lstStyle/>
          <a:p>
            <a:pPr algn="ctr" indent="0" marL="0">
              <a:buNone/>
            </a:pPr>
            <a:r>
              <a:rPr lang="en-US" sz="950" dirty="0">
                <a:solidFill>
                  <a:srgbClr val="FFFFFF"/>
                </a:solidFill>
              </a:rPr>
              <a:t>Layer N-1 ← UNFROZEN</a:t>
            </a:r>
            <a:endParaRPr lang="en-US" sz="950" dirty="0"/>
          </a:p>
        </p:txBody>
      </p:sp>
      <p:sp>
        <p:nvSpPr>
          <p:cNvPr id="18" name="Shape 16"/>
          <p:cNvSpPr/>
          <p:nvPr/>
        </p:nvSpPr>
        <p:spPr>
          <a:xfrm>
            <a:off x="6858000" y="3977640"/>
            <a:ext cx="2103120" cy="420624"/>
          </a:xfrm>
          <a:prstGeom prst="rect">
            <a:avLst/>
          </a:prstGeom>
          <a:solidFill>
            <a:srgbClr val="E07B39"/>
          </a:solidFill>
          <a:ln/>
          <a:effectLst>
            <a:outerShdw sx="100000" sy="100000" kx="0" ky="0" algn="bl" rotWithShape="0" blurRad="101600" dist="38100" dir="8100000">
              <a:srgbClr val="000000">
                <a:alpha val="12000"/>
              </a:srgbClr>
            </a:outerShdw>
          </a:effectLst>
        </p:spPr>
      </p:sp>
      <p:sp>
        <p:nvSpPr>
          <p:cNvPr id="19" name="Text 17"/>
          <p:cNvSpPr/>
          <p:nvPr/>
        </p:nvSpPr>
        <p:spPr>
          <a:xfrm>
            <a:off x="6858000" y="3977640"/>
            <a:ext cx="2103120" cy="420624"/>
          </a:xfrm>
          <a:prstGeom prst="rect">
            <a:avLst/>
          </a:prstGeom>
          <a:noFill/>
          <a:ln/>
        </p:spPr>
        <p:txBody>
          <a:bodyPr wrap="square" lIns="0" tIns="0" rIns="0" bIns="0" rtlCol="0" anchor="ctr"/>
          <a:lstStyle/>
          <a:p>
            <a:pPr algn="ctr" indent="0" marL="0">
              <a:buNone/>
            </a:pPr>
            <a:r>
              <a:rPr lang="en-US" sz="950" dirty="0">
                <a:solidFill>
                  <a:srgbClr val="FFFFFF"/>
                </a:solidFill>
              </a:rPr>
              <a:t>+ Linear Head</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A6B72"/>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10 / 17</a:t>
            </a:r>
            <a:endParaRPr lang="en-US" sz="900" dirty="0"/>
          </a:p>
        </p:txBody>
      </p:sp>
      <p:sp>
        <p:nvSpPr>
          <p:cNvPr id="4" name="Shape 2"/>
          <p:cNvSpPr/>
          <p:nvPr/>
        </p:nvSpPr>
        <p:spPr>
          <a:xfrm>
            <a:off x="457200" y="201168"/>
            <a:ext cx="2272284" cy="256032"/>
          </a:xfrm>
          <a:prstGeom prst="rect">
            <a:avLst/>
          </a:prstGeom>
          <a:solidFill>
            <a:srgbClr val="2EC4B6"/>
          </a:solidFill>
          <a:ln/>
        </p:spPr>
      </p:sp>
      <p:sp>
        <p:nvSpPr>
          <p:cNvPr id="5" name="Text 3"/>
          <p:cNvSpPr/>
          <p:nvPr/>
        </p:nvSpPr>
        <p:spPr>
          <a:xfrm>
            <a:off x="457200" y="201168"/>
            <a:ext cx="2272284" cy="256032"/>
          </a:xfrm>
          <a:prstGeom prst="rect">
            <a:avLst/>
          </a:prstGeom>
          <a:noFill/>
          <a:ln/>
        </p:spPr>
        <p:txBody>
          <a:bodyPr wrap="square" lIns="0" tIns="0" rIns="0" bIns="0" rtlCol="0" anchor="ctr"/>
          <a:lstStyle/>
          <a:p>
            <a:pPr algn="ctr" indent="0" marL="0">
              <a:buNone/>
            </a:pPr>
            <a:r>
              <a:rPr lang="en-US" sz="850" b="1" dirty="0">
                <a:solidFill>
                  <a:srgbClr val="0D1B2A"/>
                </a:solidFill>
              </a:rPr>
              <a:t>CLASSIFICATION HEAD</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Custom Head: Linear 768 → 512 → 4 with BatchNorm &amp; ReLU</a:t>
            </a:r>
            <a:endParaRPr lang="en-US" sz="2600" dirty="0"/>
          </a:p>
        </p:txBody>
      </p:sp>
      <p:sp>
        <p:nvSpPr>
          <p:cNvPr id="7" name="Text 5"/>
          <p:cNvSpPr/>
          <p:nvPr/>
        </p:nvSpPr>
        <p:spPr>
          <a:xfrm>
            <a:off x="457200" y="1298448"/>
            <a:ext cx="5669280" cy="3566160"/>
          </a:xfrm>
          <a:prstGeom prst="rect">
            <a:avLst/>
          </a:prstGeom>
          <a:noFill/>
          <a:ln/>
        </p:spPr>
        <p:txBody>
          <a:bodyPr wrap="square" rtlCol="0" anchor="ctr"/>
          <a:lstStyle/>
          <a:p>
            <a:pPr marL="342900" indent="-342900">
              <a:spcAft>
                <a:spcPts val="1000"/>
              </a:spcAft>
              <a:buSzPct val="100000"/>
              <a:buChar char="•"/>
            </a:pPr>
            <a:r>
              <a:rPr lang="en-US" sz="1300" dirty="0">
                <a:solidFill>
                  <a:srgbClr val="1C2E3A"/>
                </a:solidFill>
                <a:latin typeface="Calibri" pitchFamily="34" charset="0"/>
                <a:ea typeface="Calibri" pitchFamily="34" charset="-122"/>
                <a:cs typeface="Calibri" pitchFamily="34" charset="-120"/>
              </a:rPr>
              <a:t>Layer 1 — Linear (768→512): Reduces ViT CLS token embedding dimensionality, learning a compressed tumour-discriminative feature representation from the high-dimensional visual space.</a:t>
            </a:r>
            <a:endParaRPr lang="en-US" sz="1300" dirty="0"/>
          </a:p>
          <a:p>
            <a:pPr marL="342900" indent="-342900">
              <a:spcAft>
                <a:spcPts val="1000"/>
              </a:spcAft>
              <a:buSzPct val="100000"/>
              <a:buChar char="•"/>
            </a:pPr>
            <a:r>
              <a:rPr lang="en-US" sz="1300" dirty="0">
                <a:solidFill>
                  <a:srgbClr val="1C2E3A"/>
                </a:solidFill>
                <a:latin typeface="Calibri" pitchFamily="34" charset="0"/>
                <a:ea typeface="Calibri" pitchFamily="34" charset="-122"/>
                <a:cs typeface="Calibri" pitchFamily="34" charset="-120"/>
              </a:rPr>
              <a:t>BatchNorm + ReLU: Batch normalisation stabilises gradient flow by normalising activations per mini-batch; ReLU introduces non-linearity and enforces sparse activation — critical for distinguishing visually similar tumour sub-types.</a:t>
            </a:r>
            <a:endParaRPr lang="en-US" sz="1300" dirty="0"/>
          </a:p>
          <a:p>
            <a:pPr marL="342900" indent="-342900">
              <a:spcAft>
                <a:spcPts val="1000"/>
              </a:spcAft>
              <a:buSzPct val="100000"/>
              <a:buChar char="•"/>
            </a:pPr>
            <a:r>
              <a:rPr lang="en-US" sz="1300" dirty="0">
                <a:solidFill>
                  <a:srgbClr val="1C2E3A"/>
                </a:solidFill>
                <a:latin typeface="Calibri" pitchFamily="34" charset="0"/>
                <a:ea typeface="Calibri" pitchFamily="34" charset="-122"/>
                <a:cs typeface="Calibri" pitchFamily="34" charset="-120"/>
              </a:rPr>
              <a:t>Layer 2 — Linear (512→4): Final projection to four logits corresponding to glioma, meningioma, no-tumor, and pituitary — activations passed through cross-entropy loss during training.</a:t>
            </a:r>
            <a:endParaRPr lang="en-US" sz="1300" dirty="0"/>
          </a:p>
          <a:p>
            <a:pPr marL="342900" indent="-342900">
              <a:spcAft>
                <a:spcPts val="1000"/>
              </a:spcAft>
              <a:buSzPct val="100000"/>
              <a:buChar char="•"/>
            </a:pPr>
            <a:r>
              <a:rPr lang="en-US" sz="1300" dirty="0">
                <a:solidFill>
                  <a:srgbClr val="1C2E3A"/>
                </a:solidFill>
                <a:latin typeface="Calibri" pitchFamily="34" charset="0"/>
                <a:ea typeface="Calibri" pitchFamily="34" charset="-122"/>
                <a:cs typeface="Calibri" pitchFamily="34" charset="-120"/>
              </a:rPr>
              <a:t>Loss Function: Hybrid of focal loss and cross-entropy addresses class imbalance. Focal loss down-weights easy negatives, focusing training on hard boundary cases (glioma vs. meningioma) — reducing false negative rate in minority tumour classes.</a:t>
            </a:r>
            <a:endParaRPr lang="en-US" sz="1300" dirty="0"/>
          </a:p>
        </p:txBody>
      </p:sp>
      <p:sp>
        <p:nvSpPr>
          <p:cNvPr id="8" name="Shape 6"/>
          <p:cNvSpPr/>
          <p:nvPr/>
        </p:nvSpPr>
        <p:spPr>
          <a:xfrm>
            <a:off x="6263640" y="1188720"/>
            <a:ext cx="2651760" cy="3611880"/>
          </a:xfrm>
          <a:prstGeom prst="rect">
            <a:avLst/>
          </a:prstGeom>
          <a:solidFill>
            <a:srgbClr val="FFFFFF"/>
          </a:solidFill>
          <a:ln/>
          <a:effectLst>
            <a:outerShdw sx="100000" sy="100000" kx="0" ky="0" algn="bl" rotWithShape="0" blurRad="101600" dist="38100" dir="8100000">
              <a:srgbClr val="000000">
                <a:alpha val="12000"/>
              </a:srgbClr>
            </a:outerShdw>
          </a:effectLst>
        </p:spPr>
      </p:sp>
      <p:sp>
        <p:nvSpPr>
          <p:cNvPr id="9" name="Shape 7"/>
          <p:cNvSpPr/>
          <p:nvPr/>
        </p:nvSpPr>
        <p:spPr>
          <a:xfrm>
            <a:off x="6446520" y="1261872"/>
            <a:ext cx="2286000" cy="457200"/>
          </a:xfrm>
          <a:prstGeom prst="rect">
            <a:avLst/>
          </a:prstGeom>
          <a:solidFill>
            <a:srgbClr val="0D1B2A"/>
          </a:solidFill>
          <a:ln/>
        </p:spPr>
      </p:sp>
      <p:sp>
        <p:nvSpPr>
          <p:cNvPr id="10" name="Text 8"/>
          <p:cNvSpPr/>
          <p:nvPr/>
        </p:nvSpPr>
        <p:spPr>
          <a:xfrm>
            <a:off x="6446520" y="1261872"/>
            <a:ext cx="2286000" cy="457200"/>
          </a:xfrm>
          <a:prstGeom prst="rect">
            <a:avLst/>
          </a:prstGeom>
          <a:noFill/>
          <a:ln/>
        </p:spPr>
        <p:txBody>
          <a:bodyPr wrap="square" lIns="0" tIns="0" rIns="0" bIns="0" rtlCol="0" anchor="ctr"/>
          <a:lstStyle/>
          <a:p>
            <a:pPr algn="ctr" indent="0" marL="0">
              <a:buNone/>
            </a:pPr>
            <a:r>
              <a:rPr lang="en-US" sz="950" dirty="0">
                <a:solidFill>
                  <a:srgbClr val="FFFFFF"/>
                </a:solidFill>
              </a:rPr>
              <a:t>CLS Token</a:t>
            </a:r>
            <a:endParaRPr lang="en-US" sz="950" dirty="0"/>
          </a:p>
          <a:p>
            <a:pPr algn="ctr" indent="0" marL="0">
              <a:buNone/>
            </a:pPr>
            <a:r>
              <a:rPr lang="en-US" sz="950" dirty="0">
                <a:solidFill>
                  <a:srgbClr val="FFFFFF"/>
                </a:solidFill>
              </a:rPr>
              <a:t>(768-dim)</a:t>
            </a:r>
            <a:endParaRPr lang="en-US" sz="950" dirty="0"/>
          </a:p>
        </p:txBody>
      </p:sp>
      <p:sp>
        <p:nvSpPr>
          <p:cNvPr id="11" name="Shape 9"/>
          <p:cNvSpPr/>
          <p:nvPr/>
        </p:nvSpPr>
        <p:spPr>
          <a:xfrm>
            <a:off x="7543800" y="1719072"/>
            <a:ext cx="45720" cy="109728"/>
          </a:xfrm>
          <a:prstGeom prst="rect">
            <a:avLst/>
          </a:prstGeom>
          <a:solidFill>
            <a:srgbClr val="2EC4B6"/>
          </a:solidFill>
          <a:ln/>
        </p:spPr>
      </p:sp>
      <p:sp>
        <p:nvSpPr>
          <p:cNvPr id="12" name="Shape 10"/>
          <p:cNvSpPr/>
          <p:nvPr/>
        </p:nvSpPr>
        <p:spPr>
          <a:xfrm>
            <a:off x="6446520" y="1828800"/>
            <a:ext cx="2286000" cy="457200"/>
          </a:xfrm>
          <a:prstGeom prst="rect">
            <a:avLst/>
          </a:prstGeom>
          <a:solidFill>
            <a:srgbClr val="1A6B72"/>
          </a:solidFill>
          <a:ln/>
        </p:spPr>
      </p:sp>
      <p:sp>
        <p:nvSpPr>
          <p:cNvPr id="13" name="Text 11"/>
          <p:cNvSpPr/>
          <p:nvPr/>
        </p:nvSpPr>
        <p:spPr>
          <a:xfrm>
            <a:off x="6446520" y="1828800"/>
            <a:ext cx="2286000" cy="457200"/>
          </a:xfrm>
          <a:prstGeom prst="rect">
            <a:avLst/>
          </a:prstGeom>
          <a:noFill/>
          <a:ln/>
        </p:spPr>
        <p:txBody>
          <a:bodyPr wrap="square" lIns="0" tIns="0" rIns="0" bIns="0" rtlCol="0" anchor="ctr"/>
          <a:lstStyle/>
          <a:p>
            <a:pPr algn="ctr" indent="0" marL="0">
              <a:buNone/>
            </a:pPr>
            <a:r>
              <a:rPr lang="en-US" sz="950" dirty="0">
                <a:solidFill>
                  <a:srgbClr val="FFFFFF"/>
                </a:solidFill>
              </a:rPr>
              <a:t>Linear</a:t>
            </a:r>
            <a:endParaRPr lang="en-US" sz="950" dirty="0"/>
          </a:p>
          <a:p>
            <a:pPr algn="ctr" indent="0" marL="0">
              <a:buNone/>
            </a:pPr>
            <a:r>
              <a:rPr lang="en-US" sz="950" dirty="0">
                <a:solidFill>
                  <a:srgbClr val="FFFFFF"/>
                </a:solidFill>
              </a:rPr>
              <a:t>768 → 512</a:t>
            </a:r>
            <a:endParaRPr lang="en-US" sz="950" dirty="0"/>
          </a:p>
        </p:txBody>
      </p:sp>
      <p:sp>
        <p:nvSpPr>
          <p:cNvPr id="14" name="Shape 12"/>
          <p:cNvSpPr/>
          <p:nvPr/>
        </p:nvSpPr>
        <p:spPr>
          <a:xfrm>
            <a:off x="7543800" y="2286000"/>
            <a:ext cx="45720" cy="109728"/>
          </a:xfrm>
          <a:prstGeom prst="rect">
            <a:avLst/>
          </a:prstGeom>
          <a:solidFill>
            <a:srgbClr val="2EC4B6"/>
          </a:solidFill>
          <a:ln/>
        </p:spPr>
      </p:sp>
      <p:sp>
        <p:nvSpPr>
          <p:cNvPr id="15" name="Shape 13"/>
          <p:cNvSpPr/>
          <p:nvPr/>
        </p:nvSpPr>
        <p:spPr>
          <a:xfrm>
            <a:off x="6446520" y="2395728"/>
            <a:ext cx="2286000" cy="457200"/>
          </a:xfrm>
          <a:prstGeom prst="rect">
            <a:avLst/>
          </a:prstGeom>
          <a:solidFill>
            <a:srgbClr val="1A6B72"/>
          </a:solidFill>
          <a:ln/>
        </p:spPr>
      </p:sp>
      <p:sp>
        <p:nvSpPr>
          <p:cNvPr id="16" name="Text 14"/>
          <p:cNvSpPr/>
          <p:nvPr/>
        </p:nvSpPr>
        <p:spPr>
          <a:xfrm>
            <a:off x="6446520" y="2395728"/>
            <a:ext cx="2286000" cy="457200"/>
          </a:xfrm>
          <a:prstGeom prst="rect">
            <a:avLst/>
          </a:prstGeom>
          <a:noFill/>
          <a:ln/>
        </p:spPr>
        <p:txBody>
          <a:bodyPr wrap="square" lIns="0" tIns="0" rIns="0" bIns="0" rtlCol="0" anchor="ctr"/>
          <a:lstStyle/>
          <a:p>
            <a:pPr algn="ctr" indent="0" marL="0">
              <a:buNone/>
            </a:pPr>
            <a:r>
              <a:rPr lang="en-US" sz="950" dirty="0">
                <a:solidFill>
                  <a:srgbClr val="FFFFFF"/>
                </a:solidFill>
              </a:rPr>
              <a:t>BatchNorm</a:t>
            </a:r>
            <a:endParaRPr lang="en-US" sz="950" dirty="0"/>
          </a:p>
          <a:p>
            <a:pPr algn="ctr" indent="0" marL="0">
              <a:buNone/>
            </a:pPr>
            <a:r>
              <a:rPr lang="en-US" sz="950" dirty="0">
                <a:solidFill>
                  <a:srgbClr val="FFFFFF"/>
                </a:solidFill>
              </a:rPr>
              <a:t>+ ReLU</a:t>
            </a:r>
            <a:endParaRPr lang="en-US" sz="950" dirty="0"/>
          </a:p>
        </p:txBody>
      </p:sp>
      <p:sp>
        <p:nvSpPr>
          <p:cNvPr id="17" name="Shape 15"/>
          <p:cNvSpPr/>
          <p:nvPr/>
        </p:nvSpPr>
        <p:spPr>
          <a:xfrm>
            <a:off x="7543800" y="2852928"/>
            <a:ext cx="45720" cy="109728"/>
          </a:xfrm>
          <a:prstGeom prst="rect">
            <a:avLst/>
          </a:prstGeom>
          <a:solidFill>
            <a:srgbClr val="2EC4B6"/>
          </a:solidFill>
          <a:ln/>
        </p:spPr>
      </p:sp>
      <p:sp>
        <p:nvSpPr>
          <p:cNvPr id="18" name="Shape 16"/>
          <p:cNvSpPr/>
          <p:nvPr/>
        </p:nvSpPr>
        <p:spPr>
          <a:xfrm>
            <a:off x="6446520" y="2962656"/>
            <a:ext cx="2286000" cy="457200"/>
          </a:xfrm>
          <a:prstGeom prst="rect">
            <a:avLst/>
          </a:prstGeom>
          <a:solidFill>
            <a:srgbClr val="1A6B72"/>
          </a:solidFill>
          <a:ln/>
        </p:spPr>
      </p:sp>
      <p:sp>
        <p:nvSpPr>
          <p:cNvPr id="19" name="Text 17"/>
          <p:cNvSpPr/>
          <p:nvPr/>
        </p:nvSpPr>
        <p:spPr>
          <a:xfrm>
            <a:off x="6446520" y="2962656"/>
            <a:ext cx="2286000" cy="457200"/>
          </a:xfrm>
          <a:prstGeom prst="rect">
            <a:avLst/>
          </a:prstGeom>
          <a:noFill/>
          <a:ln/>
        </p:spPr>
        <p:txBody>
          <a:bodyPr wrap="square" lIns="0" tIns="0" rIns="0" bIns="0" rtlCol="0" anchor="ctr"/>
          <a:lstStyle/>
          <a:p>
            <a:pPr algn="ctr" indent="0" marL="0">
              <a:buNone/>
            </a:pPr>
            <a:r>
              <a:rPr lang="en-US" sz="950" dirty="0">
                <a:solidFill>
                  <a:srgbClr val="FFFFFF"/>
                </a:solidFill>
              </a:rPr>
              <a:t>Linear</a:t>
            </a:r>
            <a:endParaRPr lang="en-US" sz="950" dirty="0"/>
          </a:p>
          <a:p>
            <a:pPr algn="ctr" indent="0" marL="0">
              <a:buNone/>
            </a:pPr>
            <a:r>
              <a:rPr lang="en-US" sz="950" dirty="0">
                <a:solidFill>
                  <a:srgbClr val="FFFFFF"/>
                </a:solidFill>
              </a:rPr>
              <a:t>512 → 4</a:t>
            </a:r>
            <a:endParaRPr lang="en-US" sz="950" dirty="0"/>
          </a:p>
        </p:txBody>
      </p:sp>
      <p:sp>
        <p:nvSpPr>
          <p:cNvPr id="20" name="Shape 18"/>
          <p:cNvSpPr/>
          <p:nvPr/>
        </p:nvSpPr>
        <p:spPr>
          <a:xfrm>
            <a:off x="7543800" y="3419856"/>
            <a:ext cx="45720" cy="109728"/>
          </a:xfrm>
          <a:prstGeom prst="rect">
            <a:avLst/>
          </a:prstGeom>
          <a:solidFill>
            <a:srgbClr val="2EC4B6"/>
          </a:solidFill>
          <a:ln/>
        </p:spPr>
      </p:sp>
      <p:sp>
        <p:nvSpPr>
          <p:cNvPr id="21" name="Shape 19"/>
          <p:cNvSpPr/>
          <p:nvPr/>
        </p:nvSpPr>
        <p:spPr>
          <a:xfrm>
            <a:off x="6446520" y="3529584"/>
            <a:ext cx="2286000" cy="457200"/>
          </a:xfrm>
          <a:prstGeom prst="rect">
            <a:avLst/>
          </a:prstGeom>
          <a:solidFill>
            <a:srgbClr val="E07B39"/>
          </a:solidFill>
          <a:ln/>
        </p:spPr>
      </p:sp>
      <p:sp>
        <p:nvSpPr>
          <p:cNvPr id="22" name="Text 20"/>
          <p:cNvSpPr/>
          <p:nvPr/>
        </p:nvSpPr>
        <p:spPr>
          <a:xfrm>
            <a:off x="6446520" y="3529584"/>
            <a:ext cx="2286000" cy="457200"/>
          </a:xfrm>
          <a:prstGeom prst="rect">
            <a:avLst/>
          </a:prstGeom>
          <a:noFill/>
          <a:ln/>
        </p:spPr>
        <p:txBody>
          <a:bodyPr wrap="square" lIns="0" tIns="0" rIns="0" bIns="0" rtlCol="0" anchor="ctr"/>
          <a:lstStyle/>
          <a:p>
            <a:pPr algn="ctr" indent="0" marL="0">
              <a:buNone/>
            </a:pPr>
            <a:r>
              <a:rPr lang="en-US" sz="950" dirty="0">
                <a:solidFill>
                  <a:srgbClr val="FFFFFF"/>
                </a:solidFill>
              </a:rPr>
              <a:t>Cross-Entropy</a:t>
            </a:r>
            <a:endParaRPr lang="en-US" sz="950" dirty="0"/>
          </a:p>
          <a:p>
            <a:pPr algn="ctr" indent="0" marL="0">
              <a:buNone/>
            </a:pPr>
            <a:r>
              <a:rPr lang="en-US" sz="950" dirty="0">
                <a:solidFill>
                  <a:srgbClr val="FFFFFF"/>
                </a:solidFill>
              </a:rPr>
              <a:t>/ Focal Loss</a:t>
            </a:r>
            <a:endParaRPr lang="en-US" sz="950" dirty="0"/>
          </a:p>
        </p:txBody>
      </p:sp>
      <p:sp>
        <p:nvSpPr>
          <p:cNvPr id="23" name="Shape 21"/>
          <p:cNvSpPr/>
          <p:nvPr/>
        </p:nvSpPr>
        <p:spPr>
          <a:xfrm>
            <a:off x="7543800" y="3986784"/>
            <a:ext cx="45720" cy="109728"/>
          </a:xfrm>
          <a:prstGeom prst="rect">
            <a:avLst/>
          </a:prstGeom>
          <a:solidFill>
            <a:srgbClr val="2EC4B6"/>
          </a:solidFill>
          <a:ln/>
        </p:spPr>
      </p:sp>
      <p:sp>
        <p:nvSpPr>
          <p:cNvPr id="24" name="Shape 22"/>
          <p:cNvSpPr/>
          <p:nvPr/>
        </p:nvSpPr>
        <p:spPr>
          <a:xfrm>
            <a:off x="6446520" y="4096512"/>
            <a:ext cx="2286000" cy="457200"/>
          </a:xfrm>
          <a:prstGeom prst="rect">
            <a:avLst/>
          </a:prstGeom>
          <a:solidFill>
            <a:srgbClr val="27A85F"/>
          </a:solidFill>
          <a:ln/>
        </p:spPr>
      </p:sp>
      <p:sp>
        <p:nvSpPr>
          <p:cNvPr id="25" name="Text 23"/>
          <p:cNvSpPr/>
          <p:nvPr/>
        </p:nvSpPr>
        <p:spPr>
          <a:xfrm>
            <a:off x="6446520" y="4096512"/>
            <a:ext cx="2286000" cy="457200"/>
          </a:xfrm>
          <a:prstGeom prst="rect">
            <a:avLst/>
          </a:prstGeom>
          <a:noFill/>
          <a:ln/>
        </p:spPr>
        <p:txBody>
          <a:bodyPr wrap="square" lIns="0" tIns="0" rIns="0" bIns="0" rtlCol="0" anchor="ctr"/>
          <a:lstStyle/>
          <a:p>
            <a:pPr algn="ctr" indent="0" marL="0">
              <a:buNone/>
            </a:pPr>
            <a:r>
              <a:rPr lang="en-US" sz="950" dirty="0">
                <a:solidFill>
                  <a:srgbClr val="FFFFFF"/>
                </a:solidFill>
              </a:rPr>
              <a:t>4-Class</a:t>
            </a:r>
            <a:endParaRPr lang="en-US" sz="950" dirty="0"/>
          </a:p>
          <a:p>
            <a:pPr algn="ctr" indent="0" marL="0">
              <a:buNone/>
            </a:pPr>
            <a:r>
              <a:rPr lang="en-US" sz="950" dirty="0">
                <a:solidFill>
                  <a:srgbClr val="FFFFFF"/>
                </a:solidFill>
              </a:rPr>
              <a:t>Prediction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A6B72"/>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11 / 17</a:t>
            </a:r>
            <a:endParaRPr lang="en-US" sz="900" dirty="0"/>
          </a:p>
        </p:txBody>
      </p:sp>
      <p:sp>
        <p:nvSpPr>
          <p:cNvPr id="4" name="Shape 2"/>
          <p:cNvSpPr/>
          <p:nvPr/>
        </p:nvSpPr>
        <p:spPr>
          <a:xfrm>
            <a:off x="457200" y="201168"/>
            <a:ext cx="2587752" cy="256032"/>
          </a:xfrm>
          <a:prstGeom prst="rect">
            <a:avLst/>
          </a:prstGeom>
          <a:solidFill>
            <a:srgbClr val="2EC4B6"/>
          </a:solidFill>
          <a:ln/>
        </p:spPr>
      </p:sp>
      <p:sp>
        <p:nvSpPr>
          <p:cNvPr id="5" name="Text 3"/>
          <p:cNvSpPr/>
          <p:nvPr/>
        </p:nvSpPr>
        <p:spPr>
          <a:xfrm>
            <a:off x="457200" y="201168"/>
            <a:ext cx="2587752" cy="256032"/>
          </a:xfrm>
          <a:prstGeom prst="rect">
            <a:avLst/>
          </a:prstGeom>
          <a:noFill/>
          <a:ln/>
        </p:spPr>
        <p:txBody>
          <a:bodyPr wrap="square" lIns="0" tIns="0" rIns="0" bIns="0" rtlCol="0" anchor="ctr"/>
          <a:lstStyle/>
          <a:p>
            <a:pPr algn="ctr" indent="0" marL="0">
              <a:buNone/>
            </a:pPr>
            <a:r>
              <a:rPr lang="en-US" sz="850" b="1" dirty="0">
                <a:solidFill>
                  <a:srgbClr val="0D1B2A"/>
                </a:solidFill>
              </a:rPr>
              <a:t>TRAINING CONFIGURATION</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Hyperparameters: AdamW + Cosine Annealing, 30 Epochs</a:t>
            </a:r>
            <a:endParaRPr lang="en-US" sz="2600" dirty="0"/>
          </a:p>
        </p:txBody>
      </p:sp>
      <p:sp>
        <p:nvSpPr>
          <p:cNvPr id="7" name="Shape 5"/>
          <p:cNvSpPr/>
          <p:nvPr/>
        </p:nvSpPr>
        <p:spPr>
          <a:xfrm>
            <a:off x="457200" y="1298448"/>
            <a:ext cx="4023360" cy="1572768"/>
          </a:xfrm>
          <a:prstGeom prst="rect">
            <a:avLst/>
          </a:prstGeom>
          <a:solidFill>
            <a:srgbClr val="1A6B72"/>
          </a:solidFill>
          <a:ln/>
          <a:effectLst>
            <a:outerShdw sx="100000" sy="100000" kx="0" ky="0" algn="bl" rotWithShape="0" blurRad="101600" dist="38100" dir="8100000">
              <a:srgbClr val="000000">
                <a:alpha val="12000"/>
              </a:srgbClr>
            </a:outerShdw>
          </a:effectLst>
        </p:spPr>
      </p:sp>
      <p:sp>
        <p:nvSpPr>
          <p:cNvPr id="8" name="Text 6"/>
          <p:cNvSpPr/>
          <p:nvPr/>
        </p:nvSpPr>
        <p:spPr>
          <a:xfrm>
            <a:off x="594360" y="1389888"/>
            <a:ext cx="3749040" cy="320040"/>
          </a:xfrm>
          <a:prstGeom prst="rect">
            <a:avLst/>
          </a:prstGeom>
          <a:noFill/>
          <a:ln/>
        </p:spPr>
        <p:txBody>
          <a:bodyPr wrap="square" lIns="0" tIns="0" rIns="0" bIns="0" rtlCol="0" anchor="ctr"/>
          <a:lstStyle/>
          <a:p>
            <a:pPr indent="0" marL="0">
              <a:buNone/>
            </a:pPr>
            <a:r>
              <a:rPr lang="en-US" sz="1250" b="1" dirty="0">
                <a:solidFill>
                  <a:srgbClr val="2EC4B6"/>
                </a:solidFill>
              </a:rPr>
              <a:t>Optimiser: AdamW</a:t>
            </a:r>
            <a:endParaRPr lang="en-US" sz="1250" dirty="0"/>
          </a:p>
        </p:txBody>
      </p:sp>
      <p:sp>
        <p:nvSpPr>
          <p:cNvPr id="9" name="Text 7"/>
          <p:cNvSpPr/>
          <p:nvPr/>
        </p:nvSpPr>
        <p:spPr>
          <a:xfrm>
            <a:off x="594360" y="1709928"/>
            <a:ext cx="3749040" cy="1097280"/>
          </a:xfrm>
          <a:prstGeom prst="rect">
            <a:avLst/>
          </a:prstGeom>
          <a:noFill/>
          <a:ln/>
        </p:spPr>
        <p:txBody>
          <a:bodyPr wrap="square" lIns="0" tIns="0" rIns="0" bIns="0" rtlCol="0" anchor="ctr"/>
          <a:lstStyle/>
          <a:p>
            <a:pPr indent="0" marL="0">
              <a:lnSpc>
                <a:spcPct val="115000"/>
              </a:lnSpc>
              <a:buNone/>
            </a:pPr>
            <a:r>
              <a:rPr lang="en-US" sz="1100" dirty="0">
                <a:solidFill>
                  <a:srgbClr val="FFFFFF"/>
                </a:solidFill>
              </a:rPr>
              <a:t>Learning rate 3×10⁻⁴ with default weight decay. AdamW decouples weight decay from gradient updates, providing stronger regularisation than Adam — critical for preventing overfitting on the ~5,700 training images.</a:t>
            </a:r>
            <a:endParaRPr lang="en-US" sz="1100" dirty="0"/>
          </a:p>
        </p:txBody>
      </p:sp>
      <p:sp>
        <p:nvSpPr>
          <p:cNvPr id="10" name="Shape 8"/>
          <p:cNvSpPr/>
          <p:nvPr/>
        </p:nvSpPr>
        <p:spPr>
          <a:xfrm>
            <a:off x="4709160" y="1298448"/>
            <a:ext cx="4023360" cy="1572768"/>
          </a:xfrm>
          <a:prstGeom prst="rect">
            <a:avLst/>
          </a:prstGeom>
          <a:solidFill>
            <a:srgbClr val="1A6B72"/>
          </a:solidFill>
          <a:ln/>
          <a:effectLst>
            <a:outerShdw sx="100000" sy="100000" kx="0" ky="0" algn="bl" rotWithShape="0" blurRad="101600" dist="38100" dir="8100000">
              <a:srgbClr val="000000">
                <a:alpha val="12000"/>
              </a:srgbClr>
            </a:outerShdw>
          </a:effectLst>
        </p:spPr>
      </p:sp>
      <p:sp>
        <p:nvSpPr>
          <p:cNvPr id="11" name="Text 9"/>
          <p:cNvSpPr/>
          <p:nvPr/>
        </p:nvSpPr>
        <p:spPr>
          <a:xfrm>
            <a:off x="4846320" y="1389888"/>
            <a:ext cx="3749040" cy="320040"/>
          </a:xfrm>
          <a:prstGeom prst="rect">
            <a:avLst/>
          </a:prstGeom>
          <a:noFill/>
          <a:ln/>
        </p:spPr>
        <p:txBody>
          <a:bodyPr wrap="square" lIns="0" tIns="0" rIns="0" bIns="0" rtlCol="0" anchor="ctr"/>
          <a:lstStyle/>
          <a:p>
            <a:pPr indent="0" marL="0">
              <a:buNone/>
            </a:pPr>
            <a:r>
              <a:rPr lang="en-US" sz="1250" b="1" dirty="0">
                <a:solidFill>
                  <a:srgbClr val="2EC4B6"/>
                </a:solidFill>
              </a:rPr>
              <a:t>Scheduler: Cosine Annealing</a:t>
            </a:r>
            <a:endParaRPr lang="en-US" sz="1250" dirty="0"/>
          </a:p>
        </p:txBody>
      </p:sp>
      <p:sp>
        <p:nvSpPr>
          <p:cNvPr id="12" name="Text 10"/>
          <p:cNvSpPr/>
          <p:nvPr/>
        </p:nvSpPr>
        <p:spPr>
          <a:xfrm>
            <a:off x="4846320" y="1709928"/>
            <a:ext cx="3749040" cy="1097280"/>
          </a:xfrm>
          <a:prstGeom prst="rect">
            <a:avLst/>
          </a:prstGeom>
          <a:noFill/>
          <a:ln/>
        </p:spPr>
        <p:txBody>
          <a:bodyPr wrap="square" lIns="0" tIns="0" rIns="0" bIns="0" rtlCol="0" anchor="ctr"/>
          <a:lstStyle/>
          <a:p>
            <a:pPr indent="0" marL="0">
              <a:lnSpc>
                <a:spcPct val="115000"/>
              </a:lnSpc>
              <a:buNone/>
            </a:pPr>
            <a:r>
              <a:rPr lang="en-US" sz="1100" dirty="0">
                <a:solidFill>
                  <a:srgbClr val="FFFFFF"/>
                </a:solidFill>
              </a:rPr>
              <a:t>Cosine Annealing Warm Restarts (T₀=5): learning rate follows a cosine curve, resetting every 5 epochs. This escapes local minima and promotes convergence to wider, more generalisable optima.</a:t>
            </a:r>
            <a:endParaRPr lang="en-US" sz="1100" dirty="0"/>
          </a:p>
        </p:txBody>
      </p:sp>
      <p:sp>
        <p:nvSpPr>
          <p:cNvPr id="13" name="Shape 11"/>
          <p:cNvSpPr/>
          <p:nvPr/>
        </p:nvSpPr>
        <p:spPr>
          <a:xfrm>
            <a:off x="457200" y="3017520"/>
            <a:ext cx="4023360" cy="1572768"/>
          </a:xfrm>
          <a:prstGeom prst="rect">
            <a:avLst/>
          </a:prstGeom>
          <a:solidFill>
            <a:srgbClr val="0D1B2A"/>
          </a:solidFill>
          <a:ln/>
          <a:effectLst>
            <a:outerShdw sx="100000" sy="100000" kx="0" ky="0" algn="bl" rotWithShape="0" blurRad="101600" dist="38100" dir="8100000">
              <a:srgbClr val="000000">
                <a:alpha val="12000"/>
              </a:srgbClr>
            </a:outerShdw>
          </a:effectLst>
        </p:spPr>
      </p:sp>
      <p:sp>
        <p:nvSpPr>
          <p:cNvPr id="14" name="Text 12"/>
          <p:cNvSpPr/>
          <p:nvPr/>
        </p:nvSpPr>
        <p:spPr>
          <a:xfrm>
            <a:off x="594360" y="3108960"/>
            <a:ext cx="3749040" cy="320040"/>
          </a:xfrm>
          <a:prstGeom prst="rect">
            <a:avLst/>
          </a:prstGeom>
          <a:noFill/>
          <a:ln/>
        </p:spPr>
        <p:txBody>
          <a:bodyPr wrap="square" lIns="0" tIns="0" rIns="0" bIns="0" rtlCol="0" anchor="ctr"/>
          <a:lstStyle/>
          <a:p>
            <a:pPr indent="0" marL="0">
              <a:buNone/>
            </a:pPr>
            <a:r>
              <a:rPr lang="en-US" sz="1250" b="1" dirty="0">
                <a:solidFill>
                  <a:srgbClr val="2EC4B6"/>
                </a:solidFill>
              </a:rPr>
              <a:t>Batch Size: 16 · Epochs: 30</a:t>
            </a:r>
            <a:endParaRPr lang="en-US" sz="1250" dirty="0"/>
          </a:p>
        </p:txBody>
      </p:sp>
      <p:sp>
        <p:nvSpPr>
          <p:cNvPr id="15" name="Text 13"/>
          <p:cNvSpPr/>
          <p:nvPr/>
        </p:nvSpPr>
        <p:spPr>
          <a:xfrm>
            <a:off x="594360" y="3429000"/>
            <a:ext cx="3749040" cy="1097280"/>
          </a:xfrm>
          <a:prstGeom prst="rect">
            <a:avLst/>
          </a:prstGeom>
          <a:noFill/>
          <a:ln/>
        </p:spPr>
        <p:txBody>
          <a:bodyPr wrap="square" lIns="0" tIns="0" rIns="0" bIns="0" rtlCol="0" anchor="ctr"/>
          <a:lstStyle/>
          <a:p>
            <a:pPr indent="0" marL="0">
              <a:lnSpc>
                <a:spcPct val="115000"/>
              </a:lnSpc>
              <a:buNone/>
            </a:pPr>
            <a:r>
              <a:rPr lang="en-US" sz="1100" dirty="0">
                <a:solidFill>
                  <a:srgbClr val="FFFFFF"/>
                </a:solidFill>
              </a:rPr>
              <a:t>Batch size of 16 balances GPU memory constraints (CPU-only: Intel i5-9300H, 8GB RAM) with stable gradient estimates. 30 epochs ensured convergence without excessive training time (~4–6 hours/epoch on CPU).</a:t>
            </a:r>
            <a:endParaRPr lang="en-US" sz="1100" dirty="0"/>
          </a:p>
        </p:txBody>
      </p:sp>
      <p:sp>
        <p:nvSpPr>
          <p:cNvPr id="16" name="Shape 14"/>
          <p:cNvSpPr/>
          <p:nvPr/>
        </p:nvSpPr>
        <p:spPr>
          <a:xfrm>
            <a:off x="4709160" y="3017520"/>
            <a:ext cx="4023360" cy="1572768"/>
          </a:xfrm>
          <a:prstGeom prst="rect">
            <a:avLst/>
          </a:prstGeom>
          <a:solidFill>
            <a:srgbClr val="0D1B2A"/>
          </a:solidFill>
          <a:ln/>
          <a:effectLst>
            <a:outerShdw sx="100000" sy="100000" kx="0" ky="0" algn="bl" rotWithShape="0" blurRad="101600" dist="38100" dir="8100000">
              <a:srgbClr val="000000">
                <a:alpha val="12000"/>
              </a:srgbClr>
            </a:outerShdw>
          </a:effectLst>
        </p:spPr>
      </p:sp>
      <p:sp>
        <p:nvSpPr>
          <p:cNvPr id="17" name="Text 15"/>
          <p:cNvSpPr/>
          <p:nvPr/>
        </p:nvSpPr>
        <p:spPr>
          <a:xfrm>
            <a:off x="4846320" y="3108960"/>
            <a:ext cx="3749040" cy="320040"/>
          </a:xfrm>
          <a:prstGeom prst="rect">
            <a:avLst/>
          </a:prstGeom>
          <a:noFill/>
          <a:ln/>
        </p:spPr>
        <p:txBody>
          <a:bodyPr wrap="square" lIns="0" tIns="0" rIns="0" bIns="0" rtlCol="0" anchor="ctr"/>
          <a:lstStyle/>
          <a:p>
            <a:pPr indent="0" marL="0">
              <a:buNone/>
            </a:pPr>
            <a:r>
              <a:rPr lang="en-US" sz="1250" b="1" dirty="0">
                <a:solidFill>
                  <a:srgbClr val="2EC4B6"/>
                </a:solidFill>
              </a:rPr>
              <a:t>Loss: Cross-Entropy + Focal</a:t>
            </a:r>
            <a:endParaRPr lang="en-US" sz="1250" dirty="0"/>
          </a:p>
        </p:txBody>
      </p:sp>
      <p:sp>
        <p:nvSpPr>
          <p:cNvPr id="18" name="Text 16"/>
          <p:cNvSpPr/>
          <p:nvPr/>
        </p:nvSpPr>
        <p:spPr>
          <a:xfrm>
            <a:off x="4846320" y="3429000"/>
            <a:ext cx="3749040" cy="1097280"/>
          </a:xfrm>
          <a:prstGeom prst="rect">
            <a:avLst/>
          </a:prstGeom>
          <a:noFill/>
          <a:ln/>
        </p:spPr>
        <p:txBody>
          <a:bodyPr wrap="square" lIns="0" tIns="0" rIns="0" bIns="0" rtlCol="0" anchor="ctr"/>
          <a:lstStyle/>
          <a:p>
            <a:pPr indent="0" marL="0">
              <a:lnSpc>
                <a:spcPct val="115000"/>
              </a:lnSpc>
              <a:buNone/>
            </a:pPr>
            <a:r>
              <a:rPr lang="en-US" sz="1100" dirty="0">
                <a:solidFill>
                  <a:srgbClr val="FFFFFF"/>
                </a:solidFill>
              </a:rPr>
              <a:t>Cross-entropy provides multi-class probability supervision. Focal loss (γ&gt;0) re-weights hard examples, reducing gradient contribution from correctly-classified easy samples — directly addressing class imbalance.</a:t>
            </a:r>
            <a:endParaRPr lang="en-US" sz="1100" dirty="0"/>
          </a:p>
        </p:txBody>
      </p:sp>
      <p:sp>
        <p:nvSpPr>
          <p:cNvPr id="19" name="Text 17"/>
          <p:cNvSpPr/>
          <p:nvPr/>
        </p:nvSpPr>
        <p:spPr>
          <a:xfrm>
            <a:off x="457200" y="4663440"/>
            <a:ext cx="8229600" cy="320040"/>
          </a:xfrm>
          <a:prstGeom prst="rect">
            <a:avLst/>
          </a:prstGeom>
          <a:noFill/>
          <a:ln/>
        </p:spPr>
        <p:txBody>
          <a:bodyPr wrap="square" rtlCol="0" anchor="ctr"/>
          <a:lstStyle/>
          <a:p>
            <a:pPr algn="ctr" indent="0" marL="0">
              <a:buNone/>
            </a:pPr>
            <a:r>
              <a:rPr lang="en-US" sz="1000" i="1" dirty="0">
                <a:solidFill>
                  <a:srgbClr val="7FA8B8"/>
                </a:solidFill>
              </a:rPr>
              <a:t>Hardware: Intel Core i5-9300H · CPU-only (no discrete GPU) · PyTorch 2.1 · 5-fold CV seeds: 42, 123, 456, 789, 1011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27A85F"/>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12 / 17</a:t>
            </a:r>
            <a:endParaRPr lang="en-US" sz="900" dirty="0"/>
          </a:p>
        </p:txBody>
      </p:sp>
      <p:sp>
        <p:nvSpPr>
          <p:cNvPr id="4" name="Shape 2"/>
          <p:cNvSpPr/>
          <p:nvPr/>
        </p:nvSpPr>
        <p:spPr>
          <a:xfrm>
            <a:off x="457200" y="201168"/>
            <a:ext cx="1746504" cy="256032"/>
          </a:xfrm>
          <a:prstGeom prst="rect">
            <a:avLst/>
          </a:prstGeom>
          <a:solidFill>
            <a:srgbClr val="27A85F"/>
          </a:solidFill>
          <a:ln/>
        </p:spPr>
      </p:sp>
      <p:sp>
        <p:nvSpPr>
          <p:cNvPr id="5" name="Text 3"/>
          <p:cNvSpPr/>
          <p:nvPr/>
        </p:nvSpPr>
        <p:spPr>
          <a:xfrm>
            <a:off x="457200" y="201168"/>
            <a:ext cx="1746504" cy="256032"/>
          </a:xfrm>
          <a:prstGeom prst="rect">
            <a:avLst/>
          </a:prstGeom>
          <a:noFill/>
          <a:ln/>
        </p:spPr>
        <p:txBody>
          <a:bodyPr wrap="square" lIns="0" tIns="0" rIns="0" bIns="0" rtlCol="0" anchor="ctr"/>
          <a:lstStyle/>
          <a:p>
            <a:pPr algn="ctr" indent="0" marL="0">
              <a:buNone/>
            </a:pPr>
            <a:r>
              <a:rPr lang="en-US" sz="850" b="1" dirty="0">
                <a:solidFill>
                  <a:srgbClr val="0D1B2A"/>
                </a:solidFill>
              </a:rPr>
              <a:t>RESULTS — CLIP</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CLIP: 97.94% Test Accuracy with 22 Misclassifications</a:t>
            </a:r>
            <a:endParaRPr lang="en-US" sz="2600" dirty="0"/>
          </a:p>
        </p:txBody>
      </p:sp>
      <p:sp>
        <p:nvSpPr>
          <p:cNvPr id="7" name="Shape 5"/>
          <p:cNvSpPr/>
          <p:nvPr/>
        </p:nvSpPr>
        <p:spPr>
          <a:xfrm>
            <a:off x="457200" y="1261872"/>
            <a:ext cx="1920240" cy="914400"/>
          </a:xfrm>
          <a:prstGeom prst="rect">
            <a:avLst/>
          </a:prstGeom>
          <a:solidFill>
            <a:srgbClr val="27A85F"/>
          </a:solidFill>
          <a:ln/>
          <a:effectLst>
            <a:outerShdw sx="100000" sy="100000" kx="0" ky="0" algn="bl" rotWithShape="0" blurRad="101600" dist="38100" dir="8100000">
              <a:srgbClr val="000000">
                <a:alpha val="12000"/>
              </a:srgbClr>
            </a:outerShdw>
          </a:effectLst>
        </p:spPr>
      </p:sp>
      <p:sp>
        <p:nvSpPr>
          <p:cNvPr id="8" name="Text 6"/>
          <p:cNvSpPr/>
          <p:nvPr/>
        </p:nvSpPr>
        <p:spPr>
          <a:xfrm>
            <a:off x="457200" y="1298448"/>
            <a:ext cx="1920240" cy="502920"/>
          </a:xfrm>
          <a:prstGeom prst="rect">
            <a:avLst/>
          </a:prstGeom>
          <a:noFill/>
          <a:ln/>
        </p:spPr>
        <p:txBody>
          <a:bodyPr wrap="square" lIns="0" tIns="0" rIns="0" bIns="0" rtlCol="0" anchor="ctr"/>
          <a:lstStyle/>
          <a:p>
            <a:pPr algn="ctr" indent="0" marL="0">
              <a:buNone/>
            </a:pPr>
            <a:r>
              <a:rPr lang="en-US" sz="2600" b="1" dirty="0">
                <a:solidFill>
                  <a:srgbClr val="FFFFFF"/>
                </a:solidFill>
              </a:rPr>
              <a:t>97.94%</a:t>
            </a:r>
            <a:endParaRPr lang="en-US" sz="2600" dirty="0"/>
          </a:p>
        </p:txBody>
      </p:sp>
      <p:sp>
        <p:nvSpPr>
          <p:cNvPr id="9" name="Text 7"/>
          <p:cNvSpPr/>
          <p:nvPr/>
        </p:nvSpPr>
        <p:spPr>
          <a:xfrm>
            <a:off x="457200" y="1764792"/>
            <a:ext cx="1920240" cy="256032"/>
          </a:xfrm>
          <a:prstGeom prst="rect">
            <a:avLst/>
          </a:prstGeom>
          <a:noFill/>
          <a:ln/>
        </p:spPr>
        <p:txBody>
          <a:bodyPr wrap="square" lIns="0" tIns="0" rIns="0" bIns="0" rtlCol="0" anchor="ctr"/>
          <a:lstStyle/>
          <a:p>
            <a:pPr algn="ctr" indent="0" marL="0">
              <a:buNone/>
            </a:pPr>
            <a:r>
              <a:rPr lang="en-US" sz="950" dirty="0">
                <a:solidFill>
                  <a:srgbClr val="FFFFFF"/>
                </a:solidFill>
              </a:rPr>
              <a:t>Test Accuracy</a:t>
            </a:r>
            <a:endParaRPr lang="en-US" sz="950" dirty="0"/>
          </a:p>
        </p:txBody>
      </p:sp>
      <p:sp>
        <p:nvSpPr>
          <p:cNvPr id="10" name="Shape 8"/>
          <p:cNvSpPr/>
          <p:nvPr/>
        </p:nvSpPr>
        <p:spPr>
          <a:xfrm>
            <a:off x="2606040" y="1261872"/>
            <a:ext cx="1920240" cy="914400"/>
          </a:xfrm>
          <a:prstGeom prst="rect">
            <a:avLst/>
          </a:prstGeom>
          <a:solidFill>
            <a:srgbClr val="1A6B72"/>
          </a:solidFill>
          <a:ln/>
          <a:effectLst>
            <a:outerShdw sx="100000" sy="100000" kx="0" ky="0" algn="bl" rotWithShape="0" blurRad="101600" dist="38100" dir="8100000">
              <a:srgbClr val="000000">
                <a:alpha val="12000"/>
              </a:srgbClr>
            </a:outerShdw>
          </a:effectLst>
        </p:spPr>
      </p:sp>
      <p:sp>
        <p:nvSpPr>
          <p:cNvPr id="11" name="Text 9"/>
          <p:cNvSpPr/>
          <p:nvPr/>
        </p:nvSpPr>
        <p:spPr>
          <a:xfrm>
            <a:off x="2606040" y="1298448"/>
            <a:ext cx="1920240" cy="502920"/>
          </a:xfrm>
          <a:prstGeom prst="rect">
            <a:avLst/>
          </a:prstGeom>
          <a:noFill/>
          <a:ln/>
        </p:spPr>
        <p:txBody>
          <a:bodyPr wrap="square" lIns="0" tIns="0" rIns="0" bIns="0" rtlCol="0" anchor="ctr"/>
          <a:lstStyle/>
          <a:p>
            <a:pPr algn="ctr" indent="0" marL="0">
              <a:buNone/>
            </a:pPr>
            <a:r>
              <a:rPr lang="en-US" sz="2600" b="1" dirty="0">
                <a:solidFill>
                  <a:srgbClr val="FFFFFF"/>
                </a:solidFill>
              </a:rPr>
              <a:t>99.40%</a:t>
            </a:r>
            <a:endParaRPr lang="en-US" sz="2600" dirty="0"/>
          </a:p>
        </p:txBody>
      </p:sp>
      <p:sp>
        <p:nvSpPr>
          <p:cNvPr id="12" name="Text 10"/>
          <p:cNvSpPr/>
          <p:nvPr/>
        </p:nvSpPr>
        <p:spPr>
          <a:xfrm>
            <a:off x="2606040" y="1764792"/>
            <a:ext cx="1920240" cy="256032"/>
          </a:xfrm>
          <a:prstGeom prst="rect">
            <a:avLst/>
          </a:prstGeom>
          <a:noFill/>
          <a:ln/>
        </p:spPr>
        <p:txBody>
          <a:bodyPr wrap="square" lIns="0" tIns="0" rIns="0" bIns="0" rtlCol="0" anchor="ctr"/>
          <a:lstStyle/>
          <a:p>
            <a:pPr algn="ctr" indent="0" marL="0">
              <a:buNone/>
            </a:pPr>
            <a:r>
              <a:rPr lang="en-US" sz="950" dirty="0">
                <a:solidFill>
                  <a:srgbClr val="FFFFFF"/>
                </a:solidFill>
              </a:rPr>
              <a:t>Train Accuracy</a:t>
            </a:r>
            <a:endParaRPr lang="en-US" sz="950" dirty="0"/>
          </a:p>
        </p:txBody>
      </p:sp>
      <p:sp>
        <p:nvSpPr>
          <p:cNvPr id="13" name="Shape 11"/>
          <p:cNvSpPr/>
          <p:nvPr/>
        </p:nvSpPr>
        <p:spPr>
          <a:xfrm>
            <a:off x="4754880" y="1261872"/>
            <a:ext cx="1920240" cy="914400"/>
          </a:xfrm>
          <a:prstGeom prst="rect">
            <a:avLst/>
          </a:prstGeom>
          <a:solidFill>
            <a:srgbClr val="E07B39"/>
          </a:solidFill>
          <a:ln/>
          <a:effectLst>
            <a:outerShdw sx="100000" sy="100000" kx="0" ky="0" algn="bl" rotWithShape="0" blurRad="101600" dist="38100" dir="8100000">
              <a:srgbClr val="000000">
                <a:alpha val="12000"/>
              </a:srgbClr>
            </a:outerShdw>
          </a:effectLst>
        </p:spPr>
      </p:sp>
      <p:sp>
        <p:nvSpPr>
          <p:cNvPr id="14" name="Text 12"/>
          <p:cNvSpPr/>
          <p:nvPr/>
        </p:nvSpPr>
        <p:spPr>
          <a:xfrm>
            <a:off x="4754880" y="1298448"/>
            <a:ext cx="1920240" cy="502920"/>
          </a:xfrm>
          <a:prstGeom prst="rect">
            <a:avLst/>
          </a:prstGeom>
          <a:noFill/>
          <a:ln/>
        </p:spPr>
        <p:txBody>
          <a:bodyPr wrap="square" lIns="0" tIns="0" rIns="0" bIns="0" rtlCol="0" anchor="ctr"/>
          <a:lstStyle/>
          <a:p>
            <a:pPr algn="ctr" indent="0" marL="0">
              <a:buNone/>
            </a:pPr>
            <a:r>
              <a:rPr lang="en-US" sz="2600" b="1" dirty="0">
                <a:solidFill>
                  <a:srgbClr val="FFFFFF"/>
                </a:solidFill>
              </a:rPr>
              <a:t>22</a:t>
            </a:r>
            <a:endParaRPr lang="en-US" sz="2600" dirty="0"/>
          </a:p>
        </p:txBody>
      </p:sp>
      <p:sp>
        <p:nvSpPr>
          <p:cNvPr id="15" name="Text 13"/>
          <p:cNvSpPr/>
          <p:nvPr/>
        </p:nvSpPr>
        <p:spPr>
          <a:xfrm>
            <a:off x="4754880" y="1764792"/>
            <a:ext cx="1920240" cy="256032"/>
          </a:xfrm>
          <a:prstGeom prst="rect">
            <a:avLst/>
          </a:prstGeom>
          <a:noFill/>
          <a:ln/>
        </p:spPr>
        <p:txBody>
          <a:bodyPr wrap="square" lIns="0" tIns="0" rIns="0" bIns="0" rtlCol="0" anchor="ctr"/>
          <a:lstStyle/>
          <a:p>
            <a:pPr algn="ctr" indent="0" marL="0">
              <a:buNone/>
            </a:pPr>
            <a:r>
              <a:rPr lang="en-US" sz="950" dirty="0">
                <a:solidFill>
                  <a:srgbClr val="FFFFFF"/>
                </a:solidFill>
              </a:rPr>
              <a:t>Misclassifications</a:t>
            </a:r>
            <a:endParaRPr lang="en-US" sz="950" dirty="0"/>
          </a:p>
        </p:txBody>
      </p:sp>
      <p:sp>
        <p:nvSpPr>
          <p:cNvPr id="16" name="Shape 14"/>
          <p:cNvSpPr/>
          <p:nvPr/>
        </p:nvSpPr>
        <p:spPr>
          <a:xfrm>
            <a:off x="6903720" y="1261872"/>
            <a:ext cx="1920240" cy="914400"/>
          </a:xfrm>
          <a:prstGeom prst="rect">
            <a:avLst/>
          </a:prstGeom>
          <a:solidFill>
            <a:srgbClr val="1A6B72"/>
          </a:solidFill>
          <a:ln/>
          <a:effectLst>
            <a:outerShdw sx="100000" sy="100000" kx="0" ky="0" algn="bl" rotWithShape="0" blurRad="101600" dist="38100" dir="8100000">
              <a:srgbClr val="000000">
                <a:alpha val="12000"/>
              </a:srgbClr>
            </a:outerShdw>
          </a:effectLst>
        </p:spPr>
      </p:sp>
      <p:sp>
        <p:nvSpPr>
          <p:cNvPr id="17" name="Text 15"/>
          <p:cNvSpPr/>
          <p:nvPr/>
        </p:nvSpPr>
        <p:spPr>
          <a:xfrm>
            <a:off x="6903720" y="1298448"/>
            <a:ext cx="1920240" cy="502920"/>
          </a:xfrm>
          <a:prstGeom prst="rect">
            <a:avLst/>
          </a:prstGeom>
          <a:noFill/>
          <a:ln/>
        </p:spPr>
        <p:txBody>
          <a:bodyPr wrap="square" lIns="0" tIns="0" rIns="0" bIns="0" rtlCol="0" anchor="ctr"/>
          <a:lstStyle/>
          <a:p>
            <a:pPr algn="ctr" indent="0" marL="0">
              <a:buNone/>
            </a:pPr>
            <a:r>
              <a:rPr lang="en-US" sz="2600" b="1" dirty="0">
                <a:solidFill>
                  <a:srgbClr val="FFFFFF"/>
                </a:solidFill>
              </a:rPr>
              <a:t>0.98</a:t>
            </a:r>
            <a:endParaRPr lang="en-US" sz="2600" dirty="0"/>
          </a:p>
        </p:txBody>
      </p:sp>
      <p:sp>
        <p:nvSpPr>
          <p:cNvPr id="18" name="Text 16"/>
          <p:cNvSpPr/>
          <p:nvPr/>
        </p:nvSpPr>
        <p:spPr>
          <a:xfrm>
            <a:off x="6903720" y="1764792"/>
            <a:ext cx="1920240" cy="256032"/>
          </a:xfrm>
          <a:prstGeom prst="rect">
            <a:avLst/>
          </a:prstGeom>
          <a:noFill/>
          <a:ln/>
        </p:spPr>
        <p:txBody>
          <a:bodyPr wrap="square" lIns="0" tIns="0" rIns="0" bIns="0" rtlCol="0" anchor="ctr"/>
          <a:lstStyle/>
          <a:p>
            <a:pPr algn="ctr" indent="0" marL="0">
              <a:buNone/>
            </a:pPr>
            <a:r>
              <a:rPr lang="en-US" sz="950" dirty="0">
                <a:solidFill>
                  <a:srgbClr val="FFFFFF"/>
                </a:solidFill>
              </a:rPr>
              <a:t>Macro F1-Score</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029200" cy="914400"/>
        </p:xfrm>
        <a:graphic>
          <a:graphicData uri="http://schemas.openxmlformats.org/drawingml/2006/table">
            <a:tbl>
              <a:tblPr/>
              <a:tblGrid>
                <a:gridCol w="1645920"/>
                <a:gridCol w="1097280"/>
                <a:gridCol w="1097280"/>
                <a:gridCol w="118872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F1-Score</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r>
              <a:tr h="384048">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Glioma</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0.92</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0.96</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Meningioma</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0.93</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0.96</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No Tumor</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Pituitary</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C2E3A"/>
                          </a:solidFill>
                          <a:latin typeface="Calibri" pitchFamily="34" charset="0"/>
                          <a:ea typeface="Calibri" pitchFamily="34" charset="-122"/>
                          <a:cs typeface="Calibri" pitchFamily="34" charset="-120"/>
                        </a:rPr>
                        <a:t>Overall / Macro</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C2E3A"/>
                          </a:solidFill>
                          <a:latin typeface="Calibri" pitchFamily="34" charset="0"/>
                          <a:ea typeface="Calibri" pitchFamily="34" charset="-122"/>
                          <a:cs typeface="Calibri" pitchFamily="34" charset="-120"/>
                        </a:rPr>
                        <a:t>0.98</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C2E3A"/>
                          </a:solidFill>
                          <a:latin typeface="Calibri" pitchFamily="34" charset="0"/>
                          <a:ea typeface="Calibri" pitchFamily="34" charset="-122"/>
                          <a:cs typeface="Calibri" pitchFamily="34" charset="-120"/>
                        </a:rPr>
                        <a:t>0.98</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C2E3A"/>
                          </a:solidFill>
                          <a:latin typeface="Calibri" pitchFamily="34" charset="0"/>
                          <a:ea typeface="Calibri" pitchFamily="34" charset="-122"/>
                          <a:cs typeface="Calibri" pitchFamily="34" charset="-120"/>
                        </a:rPr>
                        <a:t>0.98</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bl>
          </a:graphicData>
        </a:graphic>
      </p:graphicFrame>
      <p:sp>
        <p:nvSpPr>
          <p:cNvPr id="20" name="Text 17"/>
          <p:cNvSpPr/>
          <p:nvPr/>
        </p:nvSpPr>
        <p:spPr>
          <a:xfrm>
            <a:off x="5669280" y="2304288"/>
            <a:ext cx="3291840" cy="2423160"/>
          </a:xfrm>
          <a:prstGeom prst="rect">
            <a:avLst/>
          </a:prstGeom>
          <a:solidFill>
            <a:srgbClr val="FFF3E0"/>
          </a:solidFill>
          <a:ln/>
        </p:spPr>
        <p:txBody>
          <a:bodyPr wrap="square" lIns="127000" tIns="127000" rIns="127000" bIns="127000" rtlCol="0" anchor="ctr"/>
          <a:lstStyle/>
          <a:p>
            <a:pPr indent="0" marL="0">
              <a:lnSpc>
                <a:spcPct val="130000"/>
              </a:lnSpc>
              <a:buNone/>
            </a:pPr>
            <a:r>
              <a:rPr lang="en-US" sz="1150" dirty="0">
                <a:solidFill>
                  <a:srgbClr val="1C2E3A"/>
                </a:solidFill>
              </a:rPr>
              <a:t>⚠ Key weakness: Glioma recall = 0.92 (lowest class) — primary confusion: Glioma ↔ Meningioma (22/22 errors concentrated here)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A6B72"/>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13 / 17</a:t>
            </a:r>
            <a:endParaRPr lang="en-US" sz="900" dirty="0"/>
          </a:p>
        </p:txBody>
      </p:sp>
      <p:sp>
        <p:nvSpPr>
          <p:cNvPr id="4" name="Shape 2"/>
          <p:cNvSpPr/>
          <p:nvPr/>
        </p:nvSpPr>
        <p:spPr>
          <a:xfrm>
            <a:off x="457200" y="201168"/>
            <a:ext cx="1746504" cy="256032"/>
          </a:xfrm>
          <a:prstGeom prst="rect">
            <a:avLst/>
          </a:prstGeom>
          <a:solidFill>
            <a:srgbClr val="2EC4B6"/>
          </a:solidFill>
          <a:ln/>
        </p:spPr>
      </p:sp>
      <p:sp>
        <p:nvSpPr>
          <p:cNvPr id="5" name="Text 3"/>
          <p:cNvSpPr/>
          <p:nvPr/>
        </p:nvSpPr>
        <p:spPr>
          <a:xfrm>
            <a:off x="457200" y="201168"/>
            <a:ext cx="1746504" cy="256032"/>
          </a:xfrm>
          <a:prstGeom prst="rect">
            <a:avLst/>
          </a:prstGeom>
          <a:noFill/>
          <a:ln/>
        </p:spPr>
        <p:txBody>
          <a:bodyPr wrap="square" lIns="0" tIns="0" rIns="0" bIns="0" rtlCol="0" anchor="ctr"/>
          <a:lstStyle/>
          <a:p>
            <a:pPr algn="ctr" indent="0" marL="0">
              <a:buNone/>
            </a:pPr>
            <a:r>
              <a:rPr lang="en-US" sz="850" b="1" dirty="0">
                <a:solidFill>
                  <a:srgbClr val="0D1B2A"/>
                </a:solidFill>
              </a:rPr>
              <a:t>RESULTS — BLIP</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BLIP: 96.49% Accuracy with Superior Precision-Recall Balance</a:t>
            </a:r>
            <a:endParaRPr lang="en-US" sz="2600" dirty="0"/>
          </a:p>
        </p:txBody>
      </p:sp>
      <p:sp>
        <p:nvSpPr>
          <p:cNvPr id="7" name="Shape 5"/>
          <p:cNvSpPr/>
          <p:nvPr/>
        </p:nvSpPr>
        <p:spPr>
          <a:xfrm>
            <a:off x="457200" y="1261872"/>
            <a:ext cx="1920240" cy="914400"/>
          </a:xfrm>
          <a:prstGeom prst="rect">
            <a:avLst/>
          </a:prstGeom>
          <a:solidFill>
            <a:srgbClr val="1A6B72"/>
          </a:solidFill>
          <a:ln/>
          <a:effectLst>
            <a:outerShdw sx="100000" sy="100000" kx="0" ky="0" algn="bl" rotWithShape="0" blurRad="101600" dist="38100" dir="8100000">
              <a:srgbClr val="000000">
                <a:alpha val="12000"/>
              </a:srgbClr>
            </a:outerShdw>
          </a:effectLst>
        </p:spPr>
      </p:sp>
      <p:sp>
        <p:nvSpPr>
          <p:cNvPr id="8" name="Text 6"/>
          <p:cNvSpPr/>
          <p:nvPr/>
        </p:nvSpPr>
        <p:spPr>
          <a:xfrm>
            <a:off x="457200" y="1298448"/>
            <a:ext cx="1920240" cy="502920"/>
          </a:xfrm>
          <a:prstGeom prst="rect">
            <a:avLst/>
          </a:prstGeom>
          <a:noFill/>
          <a:ln/>
        </p:spPr>
        <p:txBody>
          <a:bodyPr wrap="square" lIns="0" tIns="0" rIns="0" bIns="0" rtlCol="0" anchor="ctr"/>
          <a:lstStyle/>
          <a:p>
            <a:pPr algn="ctr" indent="0" marL="0">
              <a:buNone/>
            </a:pPr>
            <a:r>
              <a:rPr lang="en-US" sz="2600" b="1" dirty="0">
                <a:solidFill>
                  <a:srgbClr val="FFFFFF"/>
                </a:solidFill>
              </a:rPr>
              <a:t>96.49%</a:t>
            </a:r>
            <a:endParaRPr lang="en-US" sz="2600" dirty="0"/>
          </a:p>
        </p:txBody>
      </p:sp>
      <p:sp>
        <p:nvSpPr>
          <p:cNvPr id="9" name="Text 7"/>
          <p:cNvSpPr/>
          <p:nvPr/>
        </p:nvSpPr>
        <p:spPr>
          <a:xfrm>
            <a:off x="457200" y="1764792"/>
            <a:ext cx="1920240" cy="256032"/>
          </a:xfrm>
          <a:prstGeom prst="rect">
            <a:avLst/>
          </a:prstGeom>
          <a:noFill/>
          <a:ln/>
        </p:spPr>
        <p:txBody>
          <a:bodyPr wrap="square" lIns="0" tIns="0" rIns="0" bIns="0" rtlCol="0" anchor="ctr"/>
          <a:lstStyle/>
          <a:p>
            <a:pPr algn="ctr" indent="0" marL="0">
              <a:buNone/>
            </a:pPr>
            <a:r>
              <a:rPr lang="en-US" sz="950" dirty="0">
                <a:solidFill>
                  <a:srgbClr val="FFFFFF"/>
                </a:solidFill>
              </a:rPr>
              <a:t>Test Accuracy</a:t>
            </a:r>
            <a:endParaRPr lang="en-US" sz="950" dirty="0"/>
          </a:p>
        </p:txBody>
      </p:sp>
      <p:sp>
        <p:nvSpPr>
          <p:cNvPr id="10" name="Shape 8"/>
          <p:cNvSpPr/>
          <p:nvPr/>
        </p:nvSpPr>
        <p:spPr>
          <a:xfrm>
            <a:off x="2606040" y="1261872"/>
            <a:ext cx="1920240" cy="914400"/>
          </a:xfrm>
          <a:prstGeom prst="rect">
            <a:avLst/>
          </a:prstGeom>
          <a:solidFill>
            <a:srgbClr val="0D1B2A"/>
          </a:solidFill>
          <a:ln/>
          <a:effectLst>
            <a:outerShdw sx="100000" sy="100000" kx="0" ky="0" algn="bl" rotWithShape="0" blurRad="101600" dist="38100" dir="8100000">
              <a:srgbClr val="000000">
                <a:alpha val="12000"/>
              </a:srgbClr>
            </a:outerShdw>
          </a:effectLst>
        </p:spPr>
      </p:sp>
      <p:sp>
        <p:nvSpPr>
          <p:cNvPr id="11" name="Text 9"/>
          <p:cNvSpPr/>
          <p:nvPr/>
        </p:nvSpPr>
        <p:spPr>
          <a:xfrm>
            <a:off x="2606040" y="1298448"/>
            <a:ext cx="1920240" cy="502920"/>
          </a:xfrm>
          <a:prstGeom prst="rect">
            <a:avLst/>
          </a:prstGeom>
          <a:noFill/>
          <a:ln/>
        </p:spPr>
        <p:txBody>
          <a:bodyPr wrap="square" lIns="0" tIns="0" rIns="0" bIns="0" rtlCol="0" anchor="ctr"/>
          <a:lstStyle/>
          <a:p>
            <a:pPr algn="ctr" indent="0" marL="0">
              <a:buNone/>
            </a:pPr>
            <a:r>
              <a:rPr lang="en-US" sz="2600" b="1" dirty="0">
                <a:solidFill>
                  <a:srgbClr val="FFFFFF"/>
                </a:solidFill>
              </a:rPr>
              <a:t>97.81%</a:t>
            </a:r>
            <a:endParaRPr lang="en-US" sz="2600" dirty="0"/>
          </a:p>
        </p:txBody>
      </p:sp>
      <p:sp>
        <p:nvSpPr>
          <p:cNvPr id="12" name="Text 10"/>
          <p:cNvSpPr/>
          <p:nvPr/>
        </p:nvSpPr>
        <p:spPr>
          <a:xfrm>
            <a:off x="2606040" y="1764792"/>
            <a:ext cx="1920240" cy="256032"/>
          </a:xfrm>
          <a:prstGeom prst="rect">
            <a:avLst/>
          </a:prstGeom>
          <a:noFill/>
          <a:ln/>
        </p:spPr>
        <p:txBody>
          <a:bodyPr wrap="square" lIns="0" tIns="0" rIns="0" bIns="0" rtlCol="0" anchor="ctr"/>
          <a:lstStyle/>
          <a:p>
            <a:pPr algn="ctr" indent="0" marL="0">
              <a:buNone/>
            </a:pPr>
            <a:r>
              <a:rPr lang="en-US" sz="950" dirty="0">
                <a:solidFill>
                  <a:srgbClr val="FFFFFF"/>
                </a:solidFill>
              </a:rPr>
              <a:t>Train Accuracy</a:t>
            </a:r>
            <a:endParaRPr lang="en-US" sz="950" dirty="0"/>
          </a:p>
        </p:txBody>
      </p:sp>
      <p:sp>
        <p:nvSpPr>
          <p:cNvPr id="13" name="Shape 11"/>
          <p:cNvSpPr/>
          <p:nvPr/>
        </p:nvSpPr>
        <p:spPr>
          <a:xfrm>
            <a:off x="4754880" y="1261872"/>
            <a:ext cx="1920240" cy="914400"/>
          </a:xfrm>
          <a:prstGeom prst="rect">
            <a:avLst/>
          </a:prstGeom>
          <a:solidFill>
            <a:srgbClr val="E07B39"/>
          </a:solidFill>
          <a:ln/>
          <a:effectLst>
            <a:outerShdw sx="100000" sy="100000" kx="0" ky="0" algn="bl" rotWithShape="0" blurRad="101600" dist="38100" dir="8100000">
              <a:srgbClr val="000000">
                <a:alpha val="12000"/>
              </a:srgbClr>
            </a:outerShdw>
          </a:effectLst>
        </p:spPr>
      </p:sp>
      <p:sp>
        <p:nvSpPr>
          <p:cNvPr id="14" name="Text 12"/>
          <p:cNvSpPr/>
          <p:nvPr/>
        </p:nvSpPr>
        <p:spPr>
          <a:xfrm>
            <a:off x="4754880" y="1298448"/>
            <a:ext cx="1920240" cy="502920"/>
          </a:xfrm>
          <a:prstGeom prst="rect">
            <a:avLst/>
          </a:prstGeom>
          <a:noFill/>
          <a:ln/>
        </p:spPr>
        <p:txBody>
          <a:bodyPr wrap="square" lIns="0" tIns="0" rIns="0" bIns="0" rtlCol="0" anchor="ctr"/>
          <a:lstStyle/>
          <a:p>
            <a:pPr algn="ctr" indent="0" marL="0">
              <a:buNone/>
            </a:pPr>
            <a:r>
              <a:rPr lang="en-US" sz="2600" b="1" dirty="0">
                <a:solidFill>
                  <a:srgbClr val="FFFFFF"/>
                </a:solidFill>
              </a:rPr>
              <a:t>31</a:t>
            </a:r>
            <a:endParaRPr lang="en-US" sz="2600" dirty="0"/>
          </a:p>
        </p:txBody>
      </p:sp>
      <p:sp>
        <p:nvSpPr>
          <p:cNvPr id="15" name="Text 13"/>
          <p:cNvSpPr/>
          <p:nvPr/>
        </p:nvSpPr>
        <p:spPr>
          <a:xfrm>
            <a:off x="4754880" y="1764792"/>
            <a:ext cx="1920240" cy="256032"/>
          </a:xfrm>
          <a:prstGeom prst="rect">
            <a:avLst/>
          </a:prstGeom>
          <a:noFill/>
          <a:ln/>
        </p:spPr>
        <p:txBody>
          <a:bodyPr wrap="square" lIns="0" tIns="0" rIns="0" bIns="0" rtlCol="0" anchor="ctr"/>
          <a:lstStyle/>
          <a:p>
            <a:pPr algn="ctr" indent="0" marL="0">
              <a:buNone/>
            </a:pPr>
            <a:r>
              <a:rPr lang="en-US" sz="950" dirty="0">
                <a:solidFill>
                  <a:srgbClr val="FFFFFF"/>
                </a:solidFill>
              </a:rPr>
              <a:t>Misclassifications</a:t>
            </a:r>
            <a:endParaRPr lang="en-US" sz="950" dirty="0"/>
          </a:p>
        </p:txBody>
      </p:sp>
      <p:sp>
        <p:nvSpPr>
          <p:cNvPr id="16" name="Shape 14"/>
          <p:cNvSpPr/>
          <p:nvPr/>
        </p:nvSpPr>
        <p:spPr>
          <a:xfrm>
            <a:off x="6903720" y="1261872"/>
            <a:ext cx="1920240" cy="914400"/>
          </a:xfrm>
          <a:prstGeom prst="rect">
            <a:avLst/>
          </a:prstGeom>
          <a:solidFill>
            <a:srgbClr val="1A6B72"/>
          </a:solidFill>
          <a:ln/>
          <a:effectLst>
            <a:outerShdw sx="100000" sy="100000" kx="0" ky="0" algn="bl" rotWithShape="0" blurRad="101600" dist="38100" dir="8100000">
              <a:srgbClr val="000000">
                <a:alpha val="12000"/>
              </a:srgbClr>
            </a:outerShdw>
          </a:effectLst>
        </p:spPr>
      </p:sp>
      <p:sp>
        <p:nvSpPr>
          <p:cNvPr id="17" name="Text 15"/>
          <p:cNvSpPr/>
          <p:nvPr/>
        </p:nvSpPr>
        <p:spPr>
          <a:xfrm>
            <a:off x="6903720" y="1298448"/>
            <a:ext cx="1920240" cy="502920"/>
          </a:xfrm>
          <a:prstGeom prst="rect">
            <a:avLst/>
          </a:prstGeom>
          <a:noFill/>
          <a:ln/>
        </p:spPr>
        <p:txBody>
          <a:bodyPr wrap="square" lIns="0" tIns="0" rIns="0" bIns="0" rtlCol="0" anchor="ctr"/>
          <a:lstStyle/>
          <a:p>
            <a:pPr algn="ctr" indent="0" marL="0">
              <a:buNone/>
            </a:pPr>
            <a:r>
              <a:rPr lang="en-US" sz="2600" b="1" dirty="0">
                <a:solidFill>
                  <a:srgbClr val="FFFFFF"/>
                </a:solidFill>
              </a:rPr>
              <a:t>0.96</a:t>
            </a:r>
            <a:endParaRPr lang="en-US" sz="2600" dirty="0"/>
          </a:p>
        </p:txBody>
      </p:sp>
      <p:sp>
        <p:nvSpPr>
          <p:cNvPr id="18" name="Text 16"/>
          <p:cNvSpPr/>
          <p:nvPr/>
        </p:nvSpPr>
        <p:spPr>
          <a:xfrm>
            <a:off x="6903720" y="1764792"/>
            <a:ext cx="1920240" cy="256032"/>
          </a:xfrm>
          <a:prstGeom prst="rect">
            <a:avLst/>
          </a:prstGeom>
          <a:noFill/>
          <a:ln/>
        </p:spPr>
        <p:txBody>
          <a:bodyPr wrap="square" lIns="0" tIns="0" rIns="0" bIns="0" rtlCol="0" anchor="ctr"/>
          <a:lstStyle/>
          <a:p>
            <a:pPr algn="ctr" indent="0" marL="0">
              <a:buNone/>
            </a:pPr>
            <a:r>
              <a:rPr lang="en-US" sz="950" dirty="0">
                <a:solidFill>
                  <a:srgbClr val="FFFFFF"/>
                </a:solidFill>
              </a:rPr>
              <a:t>Macro F1-Score</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2304288"/>
          <a:ext cx="5029200" cy="914400"/>
        </p:xfrm>
        <a:graphic>
          <a:graphicData uri="http://schemas.openxmlformats.org/drawingml/2006/table">
            <a:tbl>
              <a:tblPr/>
              <a:tblGrid>
                <a:gridCol w="1645920"/>
                <a:gridCol w="1097280"/>
                <a:gridCol w="1097280"/>
                <a:gridCol w="118872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F1-Score</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r>
              <a:tr h="384048">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Glioma</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0.89</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0.94</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Meningioma</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0.96</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0.93</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No Tumor</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84048">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Pituitary</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0.98</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C2E3A"/>
                          </a:solidFill>
                          <a:latin typeface="Calibri" pitchFamily="34" charset="0"/>
                          <a:ea typeface="Calibri" pitchFamily="34" charset="-122"/>
                          <a:cs typeface="Calibri" pitchFamily="34" charset="-120"/>
                        </a:rPr>
                        <a:t>0.99</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C2E3A"/>
                          </a:solidFill>
                          <a:latin typeface="Calibri" pitchFamily="34" charset="0"/>
                          <a:ea typeface="Calibri" pitchFamily="34" charset="-122"/>
                          <a:cs typeface="Calibri" pitchFamily="34" charset="-120"/>
                        </a:rPr>
                        <a:t>Overall / Macro</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C2E3A"/>
                          </a:solidFill>
                          <a:latin typeface="Calibri" pitchFamily="34" charset="0"/>
                          <a:ea typeface="Calibri" pitchFamily="34" charset="-122"/>
                          <a:cs typeface="Calibri" pitchFamily="34" charset="-120"/>
                        </a:rPr>
                        <a:t>0.96/0.97</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C2E3A"/>
                          </a:solidFill>
                          <a:latin typeface="Calibri" pitchFamily="34" charset="0"/>
                          <a:ea typeface="Calibri" pitchFamily="34" charset="-122"/>
                          <a:cs typeface="Calibri" pitchFamily="34" charset="-120"/>
                        </a:rPr>
                        <a:t>0.96</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C2E3A"/>
                          </a:solidFill>
                          <a:latin typeface="Calibri" pitchFamily="34" charset="0"/>
                          <a:ea typeface="Calibri" pitchFamily="34" charset="-122"/>
                          <a:cs typeface="Calibri" pitchFamily="34" charset="-120"/>
                        </a:rPr>
                        <a:t>0.96</a:t>
                      </a:r>
                      <a:endParaRPr lang="en-US" sz="12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bl>
          </a:graphicData>
        </a:graphic>
      </p:graphicFrame>
      <p:sp>
        <p:nvSpPr>
          <p:cNvPr id="20" name="Text 17"/>
          <p:cNvSpPr/>
          <p:nvPr/>
        </p:nvSpPr>
        <p:spPr>
          <a:xfrm>
            <a:off x="5669280" y="2304288"/>
            <a:ext cx="3291840" cy="2423160"/>
          </a:xfrm>
          <a:prstGeom prst="rect">
            <a:avLst/>
          </a:prstGeom>
          <a:solidFill>
            <a:srgbClr val="E8F5E9"/>
          </a:solidFill>
          <a:ln/>
        </p:spPr>
        <p:txBody>
          <a:bodyPr wrap="square" lIns="127000" tIns="127000" rIns="127000" bIns="127000" rtlCol="0" anchor="ctr"/>
          <a:lstStyle/>
          <a:p>
            <a:pPr indent="0" marL="0">
              <a:lnSpc>
                <a:spcPct val="130000"/>
              </a:lnSpc>
              <a:buNone/>
            </a:pPr>
            <a:r>
              <a:rPr lang="en-US" sz="1150" dirty="0">
                <a:solidFill>
                  <a:srgbClr val="1C2E3A"/>
                </a:solidFill>
              </a:rPr>
              <a:t>✓ BLIP advantage: More balanced precision-recall profile across all tumour classes. Cross-attention enables finer-grained discrimination of morphological tumour features, reducing systemic bias toward easy (no-tumor) cases.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1A6B72"/>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14 / 17</a:t>
            </a:r>
            <a:endParaRPr lang="en-US" sz="900" dirty="0"/>
          </a:p>
        </p:txBody>
      </p:sp>
      <p:sp>
        <p:nvSpPr>
          <p:cNvPr id="4" name="Shape 2"/>
          <p:cNvSpPr/>
          <p:nvPr/>
        </p:nvSpPr>
        <p:spPr>
          <a:xfrm>
            <a:off x="457200" y="201168"/>
            <a:ext cx="2377440" cy="256032"/>
          </a:xfrm>
          <a:prstGeom prst="rect">
            <a:avLst/>
          </a:prstGeom>
          <a:solidFill>
            <a:srgbClr val="2EC4B6"/>
          </a:solidFill>
          <a:ln/>
        </p:spPr>
      </p:sp>
      <p:sp>
        <p:nvSpPr>
          <p:cNvPr id="5" name="Text 3"/>
          <p:cNvSpPr/>
          <p:nvPr/>
        </p:nvSpPr>
        <p:spPr>
          <a:xfrm>
            <a:off x="457200" y="201168"/>
            <a:ext cx="2377440" cy="256032"/>
          </a:xfrm>
          <a:prstGeom prst="rect">
            <a:avLst/>
          </a:prstGeom>
          <a:noFill/>
          <a:ln/>
        </p:spPr>
        <p:txBody>
          <a:bodyPr wrap="square" lIns="0" tIns="0" rIns="0" bIns="0" rtlCol="0" anchor="ctr"/>
          <a:lstStyle/>
          <a:p>
            <a:pPr algn="ctr" indent="0" marL="0">
              <a:buNone/>
            </a:pPr>
            <a:r>
              <a:rPr lang="en-US" sz="850" b="1" dirty="0">
                <a:solidFill>
                  <a:srgbClr val="0D1B2A"/>
                </a:solidFill>
              </a:rPr>
              <a:t>COMPARATIVE ANALYSIS</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CLIP vs BLIP vs CNN Baselines: Accuracy–Reliability Trade-off</a:t>
            </a:r>
            <a:endParaRPr lang="en-US" sz="2600" dirty="0"/>
          </a:p>
        </p:txBody>
      </p:sp>
      <p:graphicFrame>
        <p:nvGraphicFramePr>
          <p:cNvPr id="7" name="Chart 0" descr=""/>
          <p:cNvGraphicFramePr/>
          <p:nvPr/>
        </p:nvGraphicFramePr>
        <p:xfrm>
          <a:off x="365760" y="1261872"/>
          <a:ext cx="4572000" cy="260604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120640" y="1261872"/>
          <a:ext cx="3886200" cy="914400"/>
        </p:xfrm>
        <a:graphic>
          <a:graphicData uri="http://schemas.openxmlformats.org/drawingml/2006/table">
            <a:tbl>
              <a:tblPr/>
              <a:tblGrid>
                <a:gridCol w="1691640"/>
                <a:gridCol w="1097280"/>
                <a:gridCol w="1097280"/>
              </a:tblGrid>
              <a:tr h="33832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0D1B2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CLIP</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27A8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BLIP</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1A6B72"/>
                    </a:solidFill>
                  </a:tcPr>
                </a:tc>
              </a:tr>
              <a:tr h="338328">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Test Accuracy</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97.94% ± 0.32%</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96.49% ± 0.41%</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38328">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Training Accuracy</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99.40%</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97.81%</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38328">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Macro F1-Score</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0.98</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0.96</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38328">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Glioma Recall</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0.92</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0.89</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38328">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Meningioma Recall</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0.99</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0.96</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38328">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Misclassifications</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22 / 1311</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31 / 1311</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38328">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Class Balance</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Slight bias</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More balanced</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r h="338328">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FN Risk (clinical)</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C2E3A"/>
                          </a:solidFill>
                          <a:latin typeface="Calibri" pitchFamily="34" charset="0"/>
                          <a:ea typeface="Calibri" pitchFamily="34" charset="-122"/>
                          <a:cs typeface="Calibri" pitchFamily="34" charset="-120"/>
                        </a:rPr>
                        <a:t>Lower</a:t>
                      </a:r>
                      <a:endParaRPr lang="en-US" sz="1100" dirty="0">
                        <a:latin typeface="Calibri" charset="0"/>
                        <a:ea typeface="Calibri" charset="0"/>
                        <a:cs typeface="Calibri" charset="0"/>
                      </a:endParaRPr>
                    </a:p>
                  </a:txBody>
                  <a:tcPr marL="91440" marR="91440" marT="45720" marB="45720" anchor="ctr">
                    <a:lnL w="12700" cap="flat" cmpd="sng" algn="ctr">
                      <a:solidFill>
                        <a:srgbClr val="CADCDE"/>
                      </a:solidFill>
                      <a:prstDash val="solid"/>
                      <a:round/>
                      <a:headEnd type="none" w="med" len="med"/>
                      <a:tailEnd type="none" w="med" len="med"/>
                    </a:lnL>
                    <a:lnR w="12700" cap="flat" cmpd="sng" algn="ctr">
                      <a:solidFill>
                        <a:srgbClr val="CADCDE"/>
                      </a:solidFill>
                      <a:prstDash val="solid"/>
                      <a:round/>
                      <a:headEnd type="none" w="med" len="med"/>
                      <a:tailEnd type="none" w="med" len="med"/>
                    </a:lnR>
                    <a:lnT w="12700" cap="flat" cmpd="sng" algn="ctr">
                      <a:solidFill>
                        <a:srgbClr val="CADCDE"/>
                      </a:solidFill>
                      <a:prstDash val="solid"/>
                      <a:round/>
                      <a:headEnd type="none" w="med" len="med"/>
                      <a:tailEnd type="none" w="med" len="med"/>
                    </a:lnT>
                    <a:lnB w="12700" cap="flat" cmpd="sng" algn="ctr">
                      <a:solidFill>
                        <a:srgbClr val="CADCDE"/>
                      </a:solidFill>
                      <a:prstDash val="solid"/>
                      <a:round/>
                      <a:headEnd type="none" w="med" len="med"/>
                      <a:tailEnd type="none" w="med" len="med"/>
                    </a:lnB>
                    <a:solidFill>
                      <a:srgbClr val="FFFFFF"/>
                    </a:solidFill>
                  </a:tcPr>
                </a:tc>
              </a:tr>
            </a:tbl>
          </a:graphicData>
        </a:graphic>
      </p:graphicFrame>
      <p:sp>
        <p:nvSpPr>
          <p:cNvPr id="9" name="Text 5"/>
          <p:cNvSpPr/>
          <p:nvPr/>
        </p:nvSpPr>
        <p:spPr>
          <a:xfrm>
            <a:off x="457200" y="4005072"/>
            <a:ext cx="8503920" cy="658368"/>
          </a:xfrm>
          <a:prstGeom prst="rect">
            <a:avLst/>
          </a:prstGeom>
          <a:noFill/>
          <a:ln/>
        </p:spPr>
        <p:txBody>
          <a:bodyPr wrap="square" rtlCol="0" anchor="ctr"/>
          <a:lstStyle/>
          <a:p>
            <a:pPr indent="0" marL="0">
              <a:lnSpc>
                <a:spcPct val="120000"/>
              </a:lnSpc>
              <a:buNone/>
            </a:pPr>
            <a:r>
              <a:rPr lang="en-US" sz="1100" i="1" dirty="0">
                <a:solidFill>
                  <a:srgbClr val="1C2E3A"/>
                </a:solidFill>
              </a:rPr>
              <a:t>McNemar's test (p &lt; 0.05) confirms statistically significant differences between CLIP and BLIP predictions. Xception (literature: 99.72%) outperforms both VLMs in raw accuracy — pointing to CNN spatial feature extraction advantages in purely visual tasks.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15 / 17</a:t>
            </a:r>
            <a:endParaRPr lang="en-US" sz="900" dirty="0"/>
          </a:p>
        </p:txBody>
      </p:sp>
      <p:sp>
        <p:nvSpPr>
          <p:cNvPr id="3" name="Shape 1"/>
          <p:cNvSpPr/>
          <p:nvPr/>
        </p:nvSpPr>
        <p:spPr>
          <a:xfrm>
            <a:off x="0" y="0"/>
            <a:ext cx="9144000" cy="164592"/>
          </a:xfrm>
          <a:prstGeom prst="rect">
            <a:avLst/>
          </a:prstGeom>
          <a:solidFill>
            <a:srgbClr val="2EC4B6"/>
          </a:solidFill>
          <a:ln/>
        </p:spPr>
      </p:sp>
      <p:sp>
        <p:nvSpPr>
          <p:cNvPr id="4" name="Shape 2"/>
          <p:cNvSpPr/>
          <p:nvPr/>
        </p:nvSpPr>
        <p:spPr>
          <a:xfrm>
            <a:off x="0" y="164592"/>
            <a:ext cx="73152" cy="4978908"/>
          </a:xfrm>
          <a:prstGeom prst="rect">
            <a:avLst/>
          </a:prstGeom>
          <a:solidFill>
            <a:srgbClr val="1A6B72"/>
          </a:solidFill>
          <a:ln/>
        </p:spPr>
      </p:sp>
      <p:sp>
        <p:nvSpPr>
          <p:cNvPr id="5" name="Shape 3"/>
          <p:cNvSpPr/>
          <p:nvPr/>
        </p:nvSpPr>
        <p:spPr>
          <a:xfrm>
            <a:off x="457200" y="201168"/>
            <a:ext cx="2272284" cy="256032"/>
          </a:xfrm>
          <a:prstGeom prst="rect">
            <a:avLst/>
          </a:prstGeom>
          <a:solidFill>
            <a:srgbClr val="2EC4B6"/>
          </a:solidFill>
          <a:ln/>
        </p:spPr>
      </p:sp>
      <p:sp>
        <p:nvSpPr>
          <p:cNvPr id="6" name="Text 4"/>
          <p:cNvSpPr/>
          <p:nvPr/>
        </p:nvSpPr>
        <p:spPr>
          <a:xfrm>
            <a:off x="457200" y="201168"/>
            <a:ext cx="2272284" cy="256032"/>
          </a:xfrm>
          <a:prstGeom prst="rect">
            <a:avLst/>
          </a:prstGeom>
          <a:noFill/>
          <a:ln/>
        </p:spPr>
        <p:txBody>
          <a:bodyPr wrap="square" lIns="0" tIns="0" rIns="0" bIns="0" rtlCol="0" anchor="ctr"/>
          <a:lstStyle/>
          <a:p>
            <a:pPr algn="ctr" indent="0" marL="0">
              <a:buNone/>
            </a:pPr>
            <a:r>
              <a:rPr lang="en-US" sz="850" b="1" dirty="0">
                <a:solidFill>
                  <a:srgbClr val="0D1B2A"/>
                </a:solidFill>
              </a:rPr>
              <a:t>CODE IMPLEMENTATION</a:t>
            </a:r>
            <a:endParaRPr lang="en-US" sz="850" dirty="0"/>
          </a:p>
        </p:txBody>
      </p:sp>
      <p:sp>
        <p:nvSpPr>
          <p:cNvPr id="7" name="Text 5"/>
          <p:cNvSpPr/>
          <p:nvPr/>
        </p:nvSpPr>
        <p:spPr>
          <a:xfrm>
            <a:off x="228600" y="530352"/>
            <a:ext cx="8686800" cy="54864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PyTorch Implementation: Theory → Practice Alignment</a:t>
            </a:r>
            <a:endParaRPr lang="en-US" sz="2400" dirty="0"/>
          </a:p>
        </p:txBody>
      </p:sp>
      <p:sp>
        <p:nvSpPr>
          <p:cNvPr id="8" name="Shape 6"/>
          <p:cNvSpPr/>
          <p:nvPr/>
        </p:nvSpPr>
        <p:spPr>
          <a:xfrm>
            <a:off x="228600" y="1115568"/>
            <a:ext cx="4297680" cy="960120"/>
          </a:xfrm>
          <a:prstGeom prst="rect">
            <a:avLst/>
          </a:prstGeom>
          <a:solidFill>
            <a:srgbClr val="1A6B72">
              <a:alpha val="20000"/>
            </a:srgbClr>
          </a:solidFill>
          <a:ln/>
        </p:spPr>
      </p:sp>
      <p:sp>
        <p:nvSpPr>
          <p:cNvPr id="9" name="Text 7"/>
          <p:cNvSpPr/>
          <p:nvPr/>
        </p:nvSpPr>
        <p:spPr>
          <a:xfrm>
            <a:off x="320040" y="1170432"/>
            <a:ext cx="4114800" cy="228600"/>
          </a:xfrm>
          <a:prstGeom prst="rect">
            <a:avLst/>
          </a:prstGeom>
          <a:noFill/>
          <a:ln/>
        </p:spPr>
        <p:txBody>
          <a:bodyPr wrap="square" lIns="0" tIns="0" rIns="0" bIns="0" rtlCol="0" anchor="ctr"/>
          <a:lstStyle/>
          <a:p>
            <a:pPr indent="0" marL="0">
              <a:buNone/>
            </a:pPr>
            <a:r>
              <a:rPr lang="en-US" sz="950" b="1" dirty="0">
                <a:solidFill>
                  <a:srgbClr val="2EC4B6"/>
                </a:solidFill>
              </a:rPr>
              <a:t>Vision Encoder Fine-Tuning (CLIP)</a:t>
            </a:r>
            <a:endParaRPr lang="en-US" sz="950" dirty="0"/>
          </a:p>
        </p:txBody>
      </p:sp>
      <p:sp>
        <p:nvSpPr>
          <p:cNvPr id="10" name="Shape 8"/>
          <p:cNvSpPr/>
          <p:nvPr/>
        </p:nvSpPr>
        <p:spPr>
          <a:xfrm>
            <a:off x="228600" y="1417320"/>
            <a:ext cx="4297680" cy="1481328"/>
          </a:xfrm>
          <a:prstGeom prst="rect">
            <a:avLst/>
          </a:prstGeom>
          <a:solidFill>
            <a:srgbClr val="0A0F1A"/>
          </a:solidFill>
          <a:ln/>
        </p:spPr>
      </p:sp>
      <p:sp>
        <p:nvSpPr>
          <p:cNvPr id="11" name="Text 9"/>
          <p:cNvSpPr/>
          <p:nvPr/>
        </p:nvSpPr>
        <p:spPr>
          <a:xfrm>
            <a:off x="320040" y="1444752"/>
            <a:ext cx="4114800" cy="1426464"/>
          </a:xfrm>
          <a:prstGeom prst="rect">
            <a:avLst/>
          </a:prstGeom>
          <a:noFill/>
          <a:ln/>
        </p:spPr>
        <p:txBody>
          <a:bodyPr wrap="square" lIns="0" tIns="0" rIns="0" bIns="0" rtlCol="0" anchor="ctr"/>
          <a:lstStyle/>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 Freeze all layers then selectively unfreeze</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for param in clip_model.parameters(): param.requires_grad = False</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for param in clip_model.visual.transformer.resblocks[-2:].parameters():</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    param.requires_grad = True  # Last 2 layers unfrozen</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classifier = nn.Sequential(</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    nn.Linear(768, 512), nn.BatchNorm1d(512), nn.ReLU(),</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    nn.Linear(512, 4)   # 4 tumour classes</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a:t>
            </a:r>
            <a:endParaRPr lang="en-US" sz="800" dirty="0"/>
          </a:p>
        </p:txBody>
      </p:sp>
      <p:sp>
        <p:nvSpPr>
          <p:cNvPr id="12" name="Shape 10"/>
          <p:cNvSpPr/>
          <p:nvPr/>
        </p:nvSpPr>
        <p:spPr>
          <a:xfrm>
            <a:off x="4709160" y="1115568"/>
            <a:ext cx="4297680" cy="960120"/>
          </a:xfrm>
          <a:prstGeom prst="rect">
            <a:avLst/>
          </a:prstGeom>
          <a:solidFill>
            <a:srgbClr val="1A6B72">
              <a:alpha val="20000"/>
            </a:srgbClr>
          </a:solidFill>
          <a:ln/>
        </p:spPr>
      </p:sp>
      <p:sp>
        <p:nvSpPr>
          <p:cNvPr id="13" name="Text 11"/>
          <p:cNvSpPr/>
          <p:nvPr/>
        </p:nvSpPr>
        <p:spPr>
          <a:xfrm>
            <a:off x="4800600" y="1170432"/>
            <a:ext cx="4114800" cy="228600"/>
          </a:xfrm>
          <a:prstGeom prst="rect">
            <a:avLst/>
          </a:prstGeom>
          <a:noFill/>
          <a:ln/>
        </p:spPr>
        <p:txBody>
          <a:bodyPr wrap="square" lIns="0" tIns="0" rIns="0" bIns="0" rtlCol="0" anchor="ctr"/>
          <a:lstStyle/>
          <a:p>
            <a:pPr indent="0" marL="0">
              <a:buNone/>
            </a:pPr>
            <a:r>
              <a:rPr lang="en-US" sz="950" b="1" dirty="0">
                <a:solidFill>
                  <a:srgbClr val="2EC4B6"/>
                </a:solidFill>
              </a:rPr>
              <a:t>Training Loop Core</a:t>
            </a:r>
            <a:endParaRPr lang="en-US" sz="950" dirty="0"/>
          </a:p>
        </p:txBody>
      </p:sp>
      <p:sp>
        <p:nvSpPr>
          <p:cNvPr id="14" name="Shape 12"/>
          <p:cNvSpPr/>
          <p:nvPr/>
        </p:nvSpPr>
        <p:spPr>
          <a:xfrm>
            <a:off x="4709160" y="1417320"/>
            <a:ext cx="4297680" cy="1481328"/>
          </a:xfrm>
          <a:prstGeom prst="rect">
            <a:avLst/>
          </a:prstGeom>
          <a:solidFill>
            <a:srgbClr val="0A0F1A"/>
          </a:solidFill>
          <a:ln/>
        </p:spPr>
      </p:sp>
      <p:sp>
        <p:nvSpPr>
          <p:cNvPr id="15" name="Text 13"/>
          <p:cNvSpPr/>
          <p:nvPr/>
        </p:nvSpPr>
        <p:spPr>
          <a:xfrm>
            <a:off x="4800600" y="1444752"/>
            <a:ext cx="4114800" cy="1426464"/>
          </a:xfrm>
          <a:prstGeom prst="rect">
            <a:avLst/>
          </a:prstGeom>
          <a:noFill/>
          <a:ln/>
        </p:spPr>
        <p:txBody>
          <a:bodyPr wrap="square" lIns="0" tIns="0" rIns="0" bIns="0" rtlCol="0" anchor="ctr"/>
          <a:lstStyle/>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optimizer = AdamW(trainable_params, lr=3e-4)</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scheduler = CosineAnnealingWarmRestarts(optimizer, T_0=5)</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for epoch in range(30):</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    for imgs, labels in train_loader:</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        vision_feats = model.encode_image(imgs)  # CLS token</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        logits = classifier(vision_feats)</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        loss = focal_cross_entropy(logits, labels)</a:t>
            </a:r>
            <a:endParaRPr lang="en-US" sz="800" dirty="0"/>
          </a:p>
          <a:p>
            <a:pPr indent="0" marL="0">
              <a:lnSpc>
                <a:spcPct val="125000"/>
              </a:lnSpc>
              <a:buNone/>
            </a:pPr>
            <a:r>
              <a:rPr lang="en-US" sz="800" dirty="0">
                <a:solidFill>
                  <a:srgbClr val="A8D8A8"/>
                </a:solidFill>
                <a:latin typeface="Consolas" pitchFamily="34" charset="0"/>
                <a:ea typeface="Consolas" pitchFamily="34" charset="-122"/>
                <a:cs typeface="Consolas" pitchFamily="34" charset="-120"/>
              </a:rPr>
              <a:t>        loss.backward(); optimizer.step(); scheduler.step()</a:t>
            </a:r>
            <a:endParaRPr lang="en-US" sz="800" dirty="0"/>
          </a:p>
        </p:txBody>
      </p:sp>
      <p:sp>
        <p:nvSpPr>
          <p:cNvPr id="16" name="Text 14"/>
          <p:cNvSpPr/>
          <p:nvPr/>
        </p:nvSpPr>
        <p:spPr>
          <a:xfrm>
            <a:off x="457200" y="3035808"/>
            <a:ext cx="8229600" cy="1828800"/>
          </a:xfrm>
          <a:prstGeom prst="rect">
            <a:avLst/>
          </a:prstGeom>
          <a:noFill/>
          <a:ln/>
        </p:spPr>
        <p:txBody>
          <a:bodyPr wrap="square" rtlCol="0" anchor="ctr"/>
          <a:lstStyle/>
          <a:p>
            <a:pPr marL="342900" indent="-3429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Data Pipeline: ImageFolder → DataLoader (batch=16) with on-the-fly augmentation perfectly mirrors the paper's preprocessing specification — flip, resize 224×224, normalise (μ=0.5, σ=0.5).</a:t>
            </a:r>
            <a:endParaRPr lang="en-US" sz="1200" dirty="0"/>
          </a:p>
          <a:p>
            <a:pPr marL="342900" indent="-3429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BLIP Implementation: Analogous structure using Salesforce's BLIPModel/BLIPProcessor with cross-attention fusion replacing CLIP's cosine similarity fusion block.</a:t>
            </a:r>
            <a:endParaRPr lang="en-US" sz="1200" dirty="0"/>
          </a:p>
          <a:p>
            <a:pPr marL="342900" indent="-342900">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Evaluation: Classification report + Seaborn confusion matrix heatmap at each epoch; best model checkpoint saved by validation accuracy — directly reproducible from the methodology section.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6F8"/>
        </a:solidFill>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E07B39"/>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16 / 17</a:t>
            </a:r>
            <a:endParaRPr lang="en-US" sz="900" dirty="0"/>
          </a:p>
        </p:txBody>
      </p:sp>
      <p:sp>
        <p:nvSpPr>
          <p:cNvPr id="4" name="Shape 2"/>
          <p:cNvSpPr/>
          <p:nvPr/>
        </p:nvSpPr>
        <p:spPr>
          <a:xfrm>
            <a:off x="457200" y="201168"/>
            <a:ext cx="2903220" cy="256032"/>
          </a:xfrm>
          <a:prstGeom prst="rect">
            <a:avLst/>
          </a:prstGeom>
          <a:solidFill>
            <a:srgbClr val="E07B39"/>
          </a:solidFill>
          <a:ln/>
        </p:spPr>
      </p:sp>
      <p:sp>
        <p:nvSpPr>
          <p:cNvPr id="5" name="Text 3"/>
          <p:cNvSpPr/>
          <p:nvPr/>
        </p:nvSpPr>
        <p:spPr>
          <a:xfrm>
            <a:off x="457200" y="201168"/>
            <a:ext cx="2903220" cy="256032"/>
          </a:xfrm>
          <a:prstGeom prst="rect">
            <a:avLst/>
          </a:prstGeom>
          <a:noFill/>
          <a:ln/>
        </p:spPr>
        <p:txBody>
          <a:bodyPr wrap="square" lIns="0" tIns="0" rIns="0" bIns="0" rtlCol="0" anchor="ctr"/>
          <a:lstStyle/>
          <a:p>
            <a:pPr algn="ctr" indent="0" marL="0">
              <a:buNone/>
            </a:pPr>
            <a:r>
              <a:rPr lang="en-US" sz="850" b="1" dirty="0">
                <a:solidFill>
                  <a:srgbClr val="0D1B2A"/>
                </a:solidFill>
              </a:rPr>
              <a:t>LIMITATIONS &amp; FUTURE WORK</a:t>
            </a:r>
            <a:endParaRPr lang="en-US" sz="850" dirty="0"/>
          </a:p>
        </p:txBody>
      </p:sp>
      <p:sp>
        <p:nvSpPr>
          <p:cNvPr id="6" name="Text 4"/>
          <p:cNvSpPr/>
          <p:nvPr/>
        </p:nvSpPr>
        <p:spPr>
          <a:xfrm>
            <a:off x="457200" y="548640"/>
            <a:ext cx="8229600" cy="685800"/>
          </a:xfrm>
          <a:prstGeom prst="rect">
            <a:avLst/>
          </a:prstGeom>
          <a:noFill/>
          <a:ln/>
        </p:spPr>
        <p:txBody>
          <a:bodyPr wrap="square"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Why CNNs Still Lead — And the Path to Hybrid VLMs</a:t>
            </a:r>
            <a:endParaRPr lang="en-US" sz="2600" dirty="0"/>
          </a:p>
        </p:txBody>
      </p:sp>
      <p:sp>
        <p:nvSpPr>
          <p:cNvPr id="7" name="Shape 5"/>
          <p:cNvSpPr/>
          <p:nvPr/>
        </p:nvSpPr>
        <p:spPr>
          <a:xfrm>
            <a:off x="457200" y="1261872"/>
            <a:ext cx="3931920" cy="329184"/>
          </a:xfrm>
          <a:prstGeom prst="rect">
            <a:avLst/>
          </a:prstGeom>
          <a:solidFill>
            <a:srgbClr val="E07B39"/>
          </a:solidFill>
          <a:ln/>
        </p:spPr>
      </p:sp>
      <p:sp>
        <p:nvSpPr>
          <p:cNvPr id="8" name="Text 6"/>
          <p:cNvSpPr/>
          <p:nvPr/>
        </p:nvSpPr>
        <p:spPr>
          <a:xfrm>
            <a:off x="457200" y="1261872"/>
            <a:ext cx="3931920" cy="329184"/>
          </a:xfrm>
          <a:prstGeom prst="rect">
            <a:avLst/>
          </a:prstGeom>
          <a:noFill/>
          <a:ln/>
        </p:spPr>
        <p:txBody>
          <a:bodyPr wrap="square" lIns="0" tIns="0" rIns="0" bIns="0" rtlCol="0" anchor="ctr"/>
          <a:lstStyle/>
          <a:p>
            <a:pPr algn="ctr" indent="0" marL="0">
              <a:buNone/>
            </a:pPr>
            <a:r>
              <a:rPr lang="en-US" sz="1100" b="1" dirty="0">
                <a:solidFill>
                  <a:srgbClr val="FFFFFF"/>
                </a:solidFill>
              </a:rPr>
              <a:t>CURRENT LIMITATIONS</a:t>
            </a:r>
            <a:endParaRPr lang="en-US" sz="1100" dirty="0"/>
          </a:p>
        </p:txBody>
      </p:sp>
      <p:sp>
        <p:nvSpPr>
          <p:cNvPr id="9" name="Text 7"/>
          <p:cNvSpPr/>
          <p:nvPr/>
        </p:nvSpPr>
        <p:spPr>
          <a:xfrm>
            <a:off x="457200" y="1664208"/>
            <a:ext cx="3931920" cy="3200400"/>
          </a:xfrm>
          <a:prstGeom prst="rect">
            <a:avLst/>
          </a:prstGeom>
          <a:noFill/>
          <a:ln/>
        </p:spPr>
        <p:txBody>
          <a:bodyPr wrap="square" rtlCol="0" anchor="ctr"/>
          <a:lstStyle/>
          <a:p>
            <a:pPr marL="342900" indent="-342900">
              <a:spcAft>
                <a:spcPts val="1000"/>
              </a:spcAft>
              <a:buSzPct val="100000"/>
              <a:buChar char="•"/>
            </a:pPr>
            <a:r>
              <a:rPr lang="en-US" sz="1200" dirty="0">
                <a:solidFill>
                  <a:srgbClr val="1C2E3A"/>
                </a:solidFill>
                <a:latin typeface="Calibri" pitchFamily="34" charset="0"/>
                <a:ea typeface="Calibri" pitchFamily="34" charset="-122"/>
                <a:cs typeface="Calibri" pitchFamily="34" charset="-120"/>
              </a:rPr>
              <a:t>CNN Spatial Superiority: Xception (99.72%) outperforms both VLMs using depthwise separable convolutions optimised for local spatial feature extraction — a domain where purely attention-based ViTs are structurally disadvantaged.</a:t>
            </a:r>
            <a:endParaRPr lang="en-US" sz="1200" dirty="0"/>
          </a:p>
          <a:p>
            <a:pPr marL="342900" indent="-342900">
              <a:spcAft>
                <a:spcPts val="1000"/>
              </a:spcAft>
              <a:buSzPct val="100000"/>
              <a:buChar char="•"/>
            </a:pPr>
            <a:r>
              <a:rPr lang="en-US" sz="1200" dirty="0">
                <a:solidFill>
                  <a:srgbClr val="1C2E3A"/>
                </a:solidFill>
                <a:latin typeface="Calibri" pitchFamily="34" charset="0"/>
                <a:ea typeface="Calibri" pitchFamily="34" charset="-122"/>
                <a:cs typeface="Calibri" pitchFamily="34" charset="-120"/>
              </a:rPr>
              <a:t>Joint Embedding Noise: VLMs add noise in purely visual tasks through image-text joint embedding — cross-modal attention can suppress spatially localised tumour features in favour of global semantic alignment.</a:t>
            </a:r>
            <a:endParaRPr lang="en-US" sz="1200" dirty="0"/>
          </a:p>
          <a:p>
            <a:pPr marL="342900" indent="-342900">
              <a:spcAft>
                <a:spcPts val="1000"/>
              </a:spcAft>
              <a:buSzPct val="100000"/>
              <a:buChar char="•"/>
            </a:pPr>
            <a:r>
              <a:rPr lang="en-US" sz="1200" dirty="0">
                <a:solidFill>
                  <a:srgbClr val="1C2E3A"/>
                </a:solidFill>
                <a:latin typeface="Calibri" pitchFamily="34" charset="0"/>
                <a:ea typeface="Calibri" pitchFamily="34" charset="-122"/>
                <a:cs typeface="Calibri" pitchFamily="34" charset="-120"/>
              </a:rPr>
              <a:t>Hardware Constraints: CPU-only training (i5-9300H) limits batch size and epoch throughput — GPU-accelerated experiments would enable larger models and deeper fine-tuning.</a:t>
            </a:r>
            <a:endParaRPr lang="en-US" sz="1200" dirty="0"/>
          </a:p>
          <a:p>
            <a:pPr marL="342900" indent="-342900">
              <a:spcAft>
                <a:spcPts val="1000"/>
              </a:spcAft>
              <a:buSzPct val="100000"/>
              <a:buChar char="•"/>
            </a:pPr>
            <a:r>
              <a:rPr lang="en-US" sz="1200" dirty="0">
                <a:solidFill>
                  <a:srgbClr val="1C2E3A"/>
                </a:solidFill>
                <a:latin typeface="Calibri" pitchFamily="34" charset="0"/>
                <a:ea typeface="Calibri" pitchFamily="34" charset="-122"/>
                <a:cs typeface="Calibri" pitchFamily="34" charset="-120"/>
              </a:rPr>
              <a:t>No Explainability: Grad-CAM / attention heatmaps were not implemented — clinical adoption requires spatial interpretability showing which tumour regions drive classification decisions.</a:t>
            </a:r>
            <a:endParaRPr lang="en-US" sz="1200" dirty="0"/>
          </a:p>
        </p:txBody>
      </p:sp>
      <p:sp>
        <p:nvSpPr>
          <p:cNvPr id="10" name="Shape 8"/>
          <p:cNvSpPr/>
          <p:nvPr/>
        </p:nvSpPr>
        <p:spPr>
          <a:xfrm>
            <a:off x="4663440" y="1261872"/>
            <a:ext cx="4251960" cy="329184"/>
          </a:xfrm>
          <a:prstGeom prst="rect">
            <a:avLst/>
          </a:prstGeom>
          <a:solidFill>
            <a:srgbClr val="1A6B72"/>
          </a:solidFill>
          <a:ln/>
        </p:spPr>
      </p:sp>
      <p:sp>
        <p:nvSpPr>
          <p:cNvPr id="11" name="Text 9"/>
          <p:cNvSpPr/>
          <p:nvPr/>
        </p:nvSpPr>
        <p:spPr>
          <a:xfrm>
            <a:off x="4663440" y="1261872"/>
            <a:ext cx="4251960" cy="329184"/>
          </a:xfrm>
          <a:prstGeom prst="rect">
            <a:avLst/>
          </a:prstGeom>
          <a:noFill/>
          <a:ln/>
        </p:spPr>
        <p:txBody>
          <a:bodyPr wrap="square" lIns="0" tIns="0" rIns="0" bIns="0" rtlCol="0" anchor="ctr"/>
          <a:lstStyle/>
          <a:p>
            <a:pPr algn="ctr" indent="0" marL="0">
              <a:buNone/>
            </a:pPr>
            <a:r>
              <a:rPr lang="en-US" sz="1100" b="1" dirty="0">
                <a:solidFill>
                  <a:srgbClr val="FFFFFF"/>
                </a:solidFill>
              </a:rPr>
              <a:t>FUTURE DIRECTIONS</a:t>
            </a:r>
            <a:endParaRPr lang="en-US" sz="1100" dirty="0"/>
          </a:p>
        </p:txBody>
      </p:sp>
      <p:sp>
        <p:nvSpPr>
          <p:cNvPr id="12" name="Text 10"/>
          <p:cNvSpPr/>
          <p:nvPr/>
        </p:nvSpPr>
        <p:spPr>
          <a:xfrm>
            <a:off x="4663440" y="1664208"/>
            <a:ext cx="4251960" cy="3200400"/>
          </a:xfrm>
          <a:prstGeom prst="rect">
            <a:avLst/>
          </a:prstGeom>
          <a:noFill/>
          <a:ln/>
        </p:spPr>
        <p:txBody>
          <a:bodyPr wrap="square" rtlCol="0" anchor="ctr"/>
          <a:lstStyle/>
          <a:p>
            <a:pPr marL="342900" indent="-342900">
              <a:spcAft>
                <a:spcPts val="1000"/>
              </a:spcAft>
              <a:buSzPct val="100000"/>
              <a:buChar char="•"/>
            </a:pPr>
            <a:r>
              <a:rPr lang="en-US" sz="1200" dirty="0">
                <a:solidFill>
                  <a:srgbClr val="1C2E3A"/>
                </a:solidFill>
                <a:latin typeface="Calibri" pitchFamily="34" charset="0"/>
                <a:ea typeface="Calibri" pitchFamily="34" charset="-122"/>
                <a:cs typeface="Calibri" pitchFamily="34" charset="-120"/>
              </a:rPr>
              <a:t>Hybrid CNN-VLM Architectures: Combine CNN-based local spatial feature extraction (Xception backbone) with transformer-based contextual reasoning — targeting &gt;99% accuracy with multimodal interpretability.</a:t>
            </a:r>
            <a:endParaRPr lang="en-US" sz="1200" dirty="0"/>
          </a:p>
          <a:p>
            <a:pPr marL="342900" indent="-342900">
              <a:spcAft>
                <a:spcPts val="1000"/>
              </a:spcAft>
              <a:buSzPct val="100000"/>
              <a:buChar char="•"/>
            </a:pPr>
            <a:r>
              <a:rPr lang="en-US" sz="1200" dirty="0">
                <a:solidFill>
                  <a:srgbClr val="1C2E3A"/>
                </a:solidFill>
                <a:latin typeface="Calibri" pitchFamily="34" charset="0"/>
                <a:ea typeface="Calibri" pitchFamily="34" charset="-122"/>
                <a:cs typeface="Calibri" pitchFamily="34" charset="-120"/>
              </a:rPr>
              <a:t>Domain-Specific Pretraining: Fine-tune on large-scale medical image corpora (TCGA, ADNI, RSNA) using medical image-report pairs — reducing the domain shift that limits VLM performance in clinical settings.</a:t>
            </a:r>
            <a:endParaRPr lang="en-US" sz="1200" dirty="0"/>
          </a:p>
          <a:p>
            <a:pPr marL="342900" indent="-342900">
              <a:spcAft>
                <a:spcPts val="1000"/>
              </a:spcAft>
              <a:buSzPct val="100000"/>
              <a:buChar char="•"/>
            </a:pPr>
            <a:r>
              <a:rPr lang="en-US" sz="1200" dirty="0">
                <a:solidFill>
                  <a:srgbClr val="1C2E3A"/>
                </a:solidFill>
                <a:latin typeface="Calibri" pitchFamily="34" charset="0"/>
                <a:ea typeface="Calibri" pitchFamily="34" charset="-122"/>
                <a:cs typeface="Calibri" pitchFamily="34" charset="-120"/>
              </a:rPr>
              <a:t>Explainability Integration: Implement Grad-CAM + attention rollout visualisations to produce tumour region attribution maps — critical for radiologist trust and regulatory approval.</a:t>
            </a:r>
            <a:endParaRPr lang="en-US" sz="1200" dirty="0"/>
          </a:p>
          <a:p>
            <a:pPr marL="342900" indent="-342900">
              <a:spcAft>
                <a:spcPts val="1000"/>
              </a:spcAft>
              <a:buSzPct val="100000"/>
              <a:buChar char="•"/>
            </a:pPr>
            <a:r>
              <a:rPr lang="en-US" sz="1200" dirty="0">
                <a:solidFill>
                  <a:srgbClr val="1C2E3A"/>
                </a:solidFill>
                <a:latin typeface="Calibri" pitchFamily="34" charset="0"/>
                <a:ea typeface="Calibri" pitchFamily="34" charset="-122"/>
                <a:cs typeface="Calibri" pitchFamily="34" charset="-120"/>
              </a:rPr>
              <a:t>Multi-Centre Validation: Expand to T2/FLAIR MRI types across multiple scanner manufacturers; 1-year clinical trial for radiologist concordance measurement.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EC4B6"/>
          </a:solidFill>
          <a:ln/>
        </p:spPr>
      </p:sp>
      <p:sp>
        <p:nvSpPr>
          <p:cNvPr id="3" name="Text 1"/>
          <p:cNvSpPr/>
          <p:nvPr/>
        </p:nvSpPr>
        <p:spPr>
          <a:xfrm>
            <a:off x="8046720" y="4800600"/>
            <a:ext cx="914400" cy="274320"/>
          </a:xfrm>
          <a:prstGeom prst="rect">
            <a:avLst/>
          </a:prstGeom>
          <a:noFill/>
          <a:ln/>
        </p:spPr>
        <p:txBody>
          <a:bodyPr wrap="square" rtlCol="0" anchor="ctr"/>
          <a:lstStyle/>
          <a:p>
            <a:pPr algn="r" indent="0" marL="0">
              <a:buNone/>
            </a:pPr>
            <a:r>
              <a:rPr lang="en-US" sz="900" dirty="0">
                <a:solidFill>
                  <a:srgbClr val="7FA8B8"/>
                </a:solidFill>
              </a:rPr>
              <a:t>17 / 17</a:t>
            </a:r>
            <a:endParaRPr lang="en-US" sz="900" dirty="0"/>
          </a:p>
        </p:txBody>
      </p:sp>
      <p:sp>
        <p:nvSpPr>
          <p:cNvPr id="4" name="Text 2"/>
          <p:cNvSpPr/>
          <p:nvPr/>
        </p:nvSpPr>
        <p:spPr>
          <a:xfrm>
            <a:off x="457200" y="182880"/>
            <a:ext cx="8229600" cy="59436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Conclusion &amp; Key Takeaways</a:t>
            </a:r>
            <a:endParaRPr lang="en-US" sz="2600" dirty="0"/>
          </a:p>
        </p:txBody>
      </p:sp>
      <p:sp>
        <p:nvSpPr>
          <p:cNvPr id="5" name="Shape 3"/>
          <p:cNvSpPr/>
          <p:nvPr/>
        </p:nvSpPr>
        <p:spPr>
          <a:xfrm>
            <a:off x="457200" y="960120"/>
            <a:ext cx="2651760" cy="3108960"/>
          </a:xfrm>
          <a:prstGeom prst="rect">
            <a:avLst/>
          </a:prstGeom>
          <a:solidFill>
            <a:srgbClr val="1A6B72">
              <a:alpha val="90000"/>
            </a:srgbClr>
          </a:solidFill>
          <a:ln/>
          <a:effectLst>
            <a:outerShdw sx="100000" sy="100000" kx="0" ky="0" algn="bl" rotWithShape="0" blurRad="101600" dist="38100" dir="8100000">
              <a:srgbClr val="000000">
                <a:alpha val="12000"/>
              </a:srgbClr>
            </a:outerShdw>
          </a:effectLst>
        </p:spPr>
      </p:sp>
      <p:sp>
        <p:nvSpPr>
          <p:cNvPr id="6" name="Text 4"/>
          <p:cNvSpPr/>
          <p:nvPr/>
        </p:nvSpPr>
        <p:spPr>
          <a:xfrm>
            <a:off x="548640" y="10515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rPr>
              <a:t>01</a:t>
            </a:r>
            <a:endParaRPr lang="en-US" sz="2200" dirty="0"/>
          </a:p>
        </p:txBody>
      </p:sp>
      <p:sp>
        <p:nvSpPr>
          <p:cNvPr id="7" name="Text 5"/>
          <p:cNvSpPr/>
          <p:nvPr/>
        </p:nvSpPr>
        <p:spPr>
          <a:xfrm>
            <a:off x="548640" y="1581912"/>
            <a:ext cx="2468880" cy="548640"/>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rPr>
              <a:t>VLMs Are Viable — With Supervision</a:t>
            </a:r>
            <a:endParaRPr lang="en-US" sz="1200" dirty="0"/>
          </a:p>
        </p:txBody>
      </p:sp>
      <p:sp>
        <p:nvSpPr>
          <p:cNvPr id="8" name="Text 6"/>
          <p:cNvSpPr/>
          <p:nvPr/>
        </p:nvSpPr>
        <p:spPr>
          <a:xfrm>
            <a:off x="548640" y="2167128"/>
            <a:ext cx="2468880" cy="1828800"/>
          </a:xfrm>
          <a:prstGeom prst="rect">
            <a:avLst/>
          </a:prstGeom>
          <a:noFill/>
          <a:ln/>
        </p:spPr>
        <p:txBody>
          <a:bodyPr wrap="square" lIns="0" tIns="0" rIns="0" bIns="0" rtlCol="0" anchor="ctr"/>
          <a:lstStyle/>
          <a:p>
            <a:pPr indent="0" marL="0">
              <a:lnSpc>
                <a:spcPct val="125000"/>
              </a:lnSpc>
              <a:buNone/>
            </a:pPr>
            <a:r>
              <a:rPr lang="en-US" sz="1050" dirty="0">
                <a:solidFill>
                  <a:srgbClr val="FFFFFF"/>
                </a:solidFill>
              </a:rPr>
              <a:t>Supervised fine-tuning of CLIP (97.94%) and BLIP (96.49%) delivers competitive diagnostic performance vs CNN baselines — demonstrating that domain-adapted VLMs are clinically promising tools for MRI tumour classification.</a:t>
            </a:r>
            <a:endParaRPr lang="en-US" sz="1050" dirty="0"/>
          </a:p>
        </p:txBody>
      </p:sp>
      <p:sp>
        <p:nvSpPr>
          <p:cNvPr id="9" name="Shape 7"/>
          <p:cNvSpPr/>
          <p:nvPr/>
        </p:nvSpPr>
        <p:spPr>
          <a:xfrm>
            <a:off x="3291840" y="960120"/>
            <a:ext cx="2651760" cy="3108960"/>
          </a:xfrm>
          <a:prstGeom prst="rect">
            <a:avLst/>
          </a:prstGeom>
          <a:solidFill>
            <a:srgbClr val="2EC4B6">
              <a:alpha val="90000"/>
            </a:srgbClr>
          </a:solidFill>
          <a:ln/>
          <a:effectLst>
            <a:outerShdw sx="100000" sy="100000" kx="0" ky="0" algn="bl" rotWithShape="0" blurRad="101600" dist="38100" dir="8100000">
              <a:srgbClr val="000000">
                <a:alpha val="12000"/>
              </a:srgbClr>
            </a:outerShdw>
          </a:effectLst>
        </p:spPr>
      </p:sp>
      <p:sp>
        <p:nvSpPr>
          <p:cNvPr id="10" name="Text 8"/>
          <p:cNvSpPr/>
          <p:nvPr/>
        </p:nvSpPr>
        <p:spPr>
          <a:xfrm>
            <a:off x="3383280" y="10515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rPr>
              <a:t>02</a:t>
            </a:r>
            <a:endParaRPr lang="en-US" sz="2200" dirty="0"/>
          </a:p>
        </p:txBody>
      </p:sp>
      <p:sp>
        <p:nvSpPr>
          <p:cNvPr id="11" name="Text 9"/>
          <p:cNvSpPr/>
          <p:nvPr/>
        </p:nvSpPr>
        <p:spPr>
          <a:xfrm>
            <a:off x="3383280" y="1581912"/>
            <a:ext cx="2468880" cy="548640"/>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rPr>
              <a:t>Accuracy vs Clinical Reliability</a:t>
            </a:r>
            <a:endParaRPr lang="en-US" sz="1200" dirty="0"/>
          </a:p>
        </p:txBody>
      </p:sp>
      <p:sp>
        <p:nvSpPr>
          <p:cNvPr id="12" name="Text 10"/>
          <p:cNvSpPr/>
          <p:nvPr/>
        </p:nvSpPr>
        <p:spPr>
          <a:xfrm>
            <a:off x="3383280" y="2167128"/>
            <a:ext cx="2468880" cy="1828800"/>
          </a:xfrm>
          <a:prstGeom prst="rect">
            <a:avLst/>
          </a:prstGeom>
          <a:noFill/>
          <a:ln/>
        </p:spPr>
        <p:txBody>
          <a:bodyPr wrap="square" lIns="0" tIns="0" rIns="0" bIns="0" rtlCol="0" anchor="ctr"/>
          <a:lstStyle/>
          <a:p>
            <a:pPr indent="0" marL="0">
              <a:lnSpc>
                <a:spcPct val="125000"/>
              </a:lnSpc>
              <a:buNone/>
            </a:pPr>
            <a:r>
              <a:rPr lang="en-US" sz="1050" dirty="0">
                <a:solidFill>
                  <a:srgbClr val="FFFFFF"/>
                </a:solidFill>
              </a:rPr>
              <a:t>CLIP leads in raw accuracy; BLIP leads in balanced precision-recall and lower false negative risk. For oncological applications where missing a glioma is life-threatening, BLIP's profile is the preferred clinical choice.</a:t>
            </a:r>
            <a:endParaRPr lang="en-US" sz="1050" dirty="0"/>
          </a:p>
        </p:txBody>
      </p:sp>
      <p:sp>
        <p:nvSpPr>
          <p:cNvPr id="13" name="Shape 11"/>
          <p:cNvSpPr/>
          <p:nvPr/>
        </p:nvSpPr>
        <p:spPr>
          <a:xfrm>
            <a:off x="6126480" y="960120"/>
            <a:ext cx="2651760" cy="3108960"/>
          </a:xfrm>
          <a:prstGeom prst="rect">
            <a:avLst/>
          </a:prstGeom>
          <a:solidFill>
            <a:srgbClr val="E07B39">
              <a:alpha val="90000"/>
            </a:srgbClr>
          </a:solidFill>
          <a:ln/>
          <a:effectLst>
            <a:outerShdw sx="100000" sy="100000" kx="0" ky="0" algn="bl" rotWithShape="0" blurRad="101600" dist="38100" dir="8100000">
              <a:srgbClr val="000000">
                <a:alpha val="12000"/>
              </a:srgbClr>
            </a:outerShdw>
          </a:effectLst>
        </p:spPr>
      </p:sp>
      <p:sp>
        <p:nvSpPr>
          <p:cNvPr id="14" name="Text 12"/>
          <p:cNvSpPr/>
          <p:nvPr/>
        </p:nvSpPr>
        <p:spPr>
          <a:xfrm>
            <a:off x="6217920" y="1051560"/>
            <a:ext cx="502920" cy="502920"/>
          </a:xfrm>
          <a:prstGeom prst="rect">
            <a:avLst/>
          </a:prstGeom>
          <a:noFill/>
          <a:ln/>
        </p:spPr>
        <p:txBody>
          <a:bodyPr wrap="square" lIns="0" tIns="0" rIns="0" bIns="0" rtlCol="0" anchor="ctr"/>
          <a:lstStyle/>
          <a:p>
            <a:pPr algn="ctr" indent="0" marL="0">
              <a:buNone/>
            </a:pPr>
            <a:r>
              <a:rPr lang="en-US" sz="2200" b="1" dirty="0">
                <a:solidFill>
                  <a:srgbClr val="FFFFFF"/>
                </a:solidFill>
              </a:rPr>
              <a:t>03</a:t>
            </a:r>
            <a:endParaRPr lang="en-US" sz="2200" dirty="0"/>
          </a:p>
        </p:txBody>
      </p:sp>
      <p:sp>
        <p:nvSpPr>
          <p:cNvPr id="15" name="Text 13"/>
          <p:cNvSpPr/>
          <p:nvPr/>
        </p:nvSpPr>
        <p:spPr>
          <a:xfrm>
            <a:off x="6217920" y="1581912"/>
            <a:ext cx="2468880" cy="548640"/>
          </a:xfrm>
          <a:prstGeom prst="rect">
            <a:avLst/>
          </a:prstGeom>
          <a:noFill/>
          <a:ln/>
        </p:spPr>
        <p:txBody>
          <a:bodyPr wrap="square" lIns="0" tIns="0" rIns="0" bIns="0" rtlCol="0" anchor="ctr"/>
          <a:lstStyle/>
          <a:p>
            <a:pPr indent="0" marL="0">
              <a:lnSpc>
                <a:spcPct val="110000"/>
              </a:lnSpc>
              <a:buNone/>
            </a:pPr>
            <a:r>
              <a:rPr lang="en-US" sz="1200" b="1" dirty="0">
                <a:solidFill>
                  <a:srgbClr val="FFFFFF"/>
                </a:solidFill>
              </a:rPr>
              <a:t>The Path Forward: Hybrid Models</a:t>
            </a:r>
            <a:endParaRPr lang="en-US" sz="1200" dirty="0"/>
          </a:p>
        </p:txBody>
      </p:sp>
      <p:sp>
        <p:nvSpPr>
          <p:cNvPr id="16" name="Text 14"/>
          <p:cNvSpPr/>
          <p:nvPr/>
        </p:nvSpPr>
        <p:spPr>
          <a:xfrm>
            <a:off x="6217920" y="2167128"/>
            <a:ext cx="2468880" cy="1828800"/>
          </a:xfrm>
          <a:prstGeom prst="rect">
            <a:avLst/>
          </a:prstGeom>
          <a:noFill/>
          <a:ln/>
        </p:spPr>
        <p:txBody>
          <a:bodyPr wrap="square" lIns="0" tIns="0" rIns="0" bIns="0" rtlCol="0" anchor="ctr"/>
          <a:lstStyle/>
          <a:p>
            <a:pPr indent="0" marL="0">
              <a:lnSpc>
                <a:spcPct val="125000"/>
              </a:lnSpc>
              <a:buNone/>
            </a:pPr>
            <a:r>
              <a:rPr lang="en-US" sz="1050" dirty="0">
                <a:solidFill>
                  <a:srgbClr val="FFFFFF"/>
                </a:solidFill>
              </a:rPr>
              <a:t>CNN spatial precision + VLM contextual reasoning + explainability (Grad-CAM) + domain-specific pretraining on medical corpora represents the most promising architecture for next-generation AI diagnostics.</a:t>
            </a:r>
            <a:endParaRPr lang="en-US" sz="1050" dirty="0"/>
          </a:p>
        </p:txBody>
      </p:sp>
      <p:sp>
        <p:nvSpPr>
          <p:cNvPr id="17" name="Text 15"/>
          <p:cNvSpPr/>
          <p:nvPr/>
        </p:nvSpPr>
        <p:spPr>
          <a:xfrm>
            <a:off x="457200" y="4206240"/>
            <a:ext cx="8229600" cy="274320"/>
          </a:xfrm>
          <a:prstGeom prst="rect">
            <a:avLst/>
          </a:prstGeom>
          <a:noFill/>
          <a:ln/>
        </p:spPr>
        <p:txBody>
          <a:bodyPr wrap="square" rtlCol="0" anchor="ctr"/>
          <a:lstStyle/>
          <a:p>
            <a:pPr algn="ctr" indent="0" marL="0">
              <a:buNone/>
            </a:pPr>
            <a:r>
              <a:rPr lang="en-US" sz="950" i="1" dirty="0">
                <a:solidFill>
                  <a:srgbClr val="7FA8B8"/>
                </a:solidFill>
              </a:rPr>
              <a:t>Swetha M &amp; T N R Kumar · Premier Journal of Science 2025;15:100214 · DOI: 10.70389/PJS.100214</a:t>
            </a:r>
            <a:endParaRPr lang="en-US" sz="950" dirty="0"/>
          </a:p>
        </p:txBody>
      </p:sp>
      <p:sp>
        <p:nvSpPr>
          <p:cNvPr id="18" name="Shape 16"/>
          <p:cNvSpPr/>
          <p:nvPr/>
        </p:nvSpPr>
        <p:spPr>
          <a:xfrm>
            <a:off x="457200" y="4572000"/>
            <a:ext cx="8229600" cy="438912"/>
          </a:xfrm>
          <a:prstGeom prst="rect">
            <a:avLst/>
          </a:prstGeom>
          <a:solidFill>
            <a:srgbClr val="2EC4B6">
              <a:alpha val="80000"/>
            </a:srgbClr>
          </a:solidFill>
          <a:ln/>
        </p:spPr>
      </p:sp>
      <p:sp>
        <p:nvSpPr>
          <p:cNvPr id="19" name="Text 17"/>
          <p:cNvSpPr/>
          <p:nvPr/>
        </p:nvSpPr>
        <p:spPr>
          <a:xfrm>
            <a:off x="457200" y="4572000"/>
            <a:ext cx="8229600" cy="438912"/>
          </a:xfrm>
          <a:prstGeom prst="rect">
            <a:avLst/>
          </a:prstGeom>
          <a:noFill/>
          <a:ln/>
        </p:spPr>
        <p:txBody>
          <a:bodyPr wrap="square" lIns="0" tIns="0" rIns="0" bIns="0" rtlCol="0" anchor="ctr"/>
          <a:lstStyle/>
          <a:p>
            <a:pPr algn="ctr" indent="0" marL="0">
              <a:buNone/>
            </a:pPr>
            <a:r>
              <a:rPr lang="en-US" sz="1500" b="1" dirty="0">
                <a:solidFill>
                  <a:srgbClr val="FFFFFF"/>
                </a:solidFill>
              </a:rPr>
              <a:t>Thank you  ·  Questions &amp; Discussion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 Brain Tumor Classification Using BLIP and CLIP</dc:title>
  <dc:subject>PptxGenJS Presentation</dc:subject>
  <dc:creator>Swetha M &amp; T N R Kumar</dc:creator>
  <cp:lastModifiedBy>Swetha M &amp; T N R Kumar</cp:lastModifiedBy>
  <cp:revision>1</cp:revision>
  <dcterms:created xsi:type="dcterms:W3CDTF">2026-04-15T12:12:45Z</dcterms:created>
  <dcterms:modified xsi:type="dcterms:W3CDTF">2026-04-15T12:12:45Z</dcterms:modified>
</cp:coreProperties>
</file>